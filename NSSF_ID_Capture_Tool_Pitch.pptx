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76" r:id="rId7"/>
    <p:sldId id="277" r:id="rId8"/>
    <p:sldId id="278" r:id="rId9"/>
    <p:sldId id="275" r:id="rId10"/>
    <p:sldId id="259" r:id="rId11"/>
    <p:sldId id="260" r:id="rId12"/>
    <p:sldId id="261" r:id="rId13"/>
    <p:sldId id="262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3A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2743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3A93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S S F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2920" y="1737360"/>
            <a:ext cx="6949440" cy="2103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SmartLife Flexi</a:t>
            </a:r>
            <a:endParaRPr lang="en-US" sz="4400" dirty="0"/>
          </a:p>
          <a:p>
            <a:pPr marL="0" indent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ID Capture Tool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3886200"/>
            <a:ext cx="6400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Solving the Field Data Collection Problem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66928" y="4434840"/>
            <a:ext cx="1554480" cy="45720"/>
          </a:xfrm>
          <a:prstGeom prst="rect">
            <a:avLst/>
          </a:prstGeom>
          <a:solidFill>
            <a:srgbClr val="E3A93E"/>
          </a:solidFill>
        </p:spPr>
      </p:sp>
      <p:sp>
        <p:nvSpPr>
          <p:cNvPr id="6" name="Text 4"/>
          <p:cNvSpPr/>
          <p:nvPr/>
        </p:nvSpPr>
        <p:spPr>
          <a:xfrm>
            <a:off x="548640" y="4709160"/>
            <a:ext cx="5486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D3E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Enterprise &amp; Growth Department  ·  June 2026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321040" y="502920"/>
            <a:ext cx="3291840" cy="5852160"/>
          </a:xfrm>
          <a:prstGeom prst="roundRect">
            <a:avLst>
              <a:gd name="adj" fmla="val 3333"/>
            </a:avLst>
          </a:prstGeom>
          <a:solidFill>
            <a:srgbClr val="F1F5F9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321040" y="502920"/>
            <a:ext cx="32918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</p:spPr>
      </p:sp>
      <p:sp>
        <p:nvSpPr>
          <p:cNvPr id="9" name="Shape 7"/>
          <p:cNvSpPr/>
          <p:nvPr/>
        </p:nvSpPr>
        <p:spPr>
          <a:xfrm>
            <a:off x="8321040" y="960120"/>
            <a:ext cx="3291840" cy="2286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10" name="Shape 8"/>
          <p:cNvSpPr/>
          <p:nvPr/>
        </p:nvSpPr>
        <p:spPr>
          <a:xfrm>
            <a:off x="8458200" y="621792"/>
            <a:ext cx="457200" cy="320040"/>
          </a:xfrm>
          <a:prstGeom prst="roundRect">
            <a:avLst>
              <a:gd name="adj" fmla="val 14286"/>
            </a:avLst>
          </a:prstGeom>
          <a:solidFill>
            <a:srgbClr val="0E3A63"/>
          </a:solidFill>
        </p:spPr>
      </p:sp>
      <p:sp>
        <p:nvSpPr>
          <p:cNvPr id="11" name="Text 9"/>
          <p:cNvSpPr/>
          <p:nvPr/>
        </p:nvSpPr>
        <p:spPr>
          <a:xfrm>
            <a:off x="8458200" y="62179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NSSF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006840" y="603504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SmartLife Flexi Enrolment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006840" y="822960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ID Capture &amp; Data Extraction Tool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1064240" y="685800"/>
            <a:ext cx="73152" cy="73152"/>
          </a:xfrm>
          <a:prstGeom prst="ellipse">
            <a:avLst/>
          </a:prstGeom>
          <a:solidFill>
            <a:srgbClr val="2E8B57"/>
          </a:solidFill>
        </p:spPr>
      </p:sp>
      <p:sp>
        <p:nvSpPr>
          <p:cNvPr id="15" name="Text 13"/>
          <p:cNvSpPr/>
          <p:nvPr/>
        </p:nvSpPr>
        <p:spPr>
          <a:xfrm>
            <a:off x="11155680" y="621792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B5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Offline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8503920" y="128016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E3A6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Capture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058400" y="128016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Records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503920" y="1572768"/>
            <a:ext cx="1280160" cy="27432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19" name="Text 17"/>
          <p:cNvSpPr/>
          <p:nvPr/>
        </p:nvSpPr>
        <p:spPr>
          <a:xfrm>
            <a:off x="8503920" y="178308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Upload ID — Both Sides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503920" y="2103120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0B2B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12680" y="2103120"/>
            <a:ext cx="1371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0" y="2880360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E8B5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 Front loaded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0012680" y="2880360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2E8B5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 Back loaded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8503920" y="3200400"/>
            <a:ext cx="2880360" cy="457200"/>
          </a:xfrm>
          <a:prstGeom prst="roundRect">
            <a:avLst>
              <a:gd name="adj" fmla="val 12000"/>
            </a:avLst>
          </a:prstGeom>
          <a:solidFill>
            <a:srgbClr val="E7EEF6"/>
          </a:solidFill>
        </p:spPr>
      </p:sp>
      <p:sp>
        <p:nvSpPr>
          <p:cNvPr id="25" name="Text 23"/>
          <p:cNvSpPr/>
          <p:nvPr/>
        </p:nvSpPr>
        <p:spPr>
          <a:xfrm>
            <a:off x="8595360" y="3218688"/>
            <a:ext cx="2697480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Upload both sides for a complete record. Front gives identity data; back gives location data.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8503920" y="3749040"/>
            <a:ext cx="2880360" cy="320040"/>
          </a:xfrm>
          <a:prstGeom prst="roundRect">
            <a:avLst>
              <a:gd name="adj" fmla="val 17143"/>
            </a:avLst>
          </a:prstGeom>
          <a:solidFill>
            <a:srgbClr val="DEF0E2"/>
          </a:solidFill>
        </p:spPr>
      </p:sp>
      <p:sp>
        <p:nvSpPr>
          <p:cNvPr id="27" name="Text 25"/>
          <p:cNvSpPr/>
          <p:nvPr/>
        </p:nvSpPr>
        <p:spPr>
          <a:xfrm>
            <a:off x="8595360" y="3749040"/>
            <a:ext cx="2697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B5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Both sides uploaded — ready to extract all data.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8503920" y="4160520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0E3A63"/>
          </a:solidFill>
        </p:spPr>
      </p:sp>
      <p:sp>
        <p:nvSpPr>
          <p:cNvPr id="29" name="Text 27"/>
          <p:cNvSpPr/>
          <p:nvPr/>
        </p:nvSpPr>
        <p:spPr>
          <a:xfrm>
            <a:off x="8503920" y="416052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Extract Data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0058400" y="4160520"/>
            <a:ext cx="9144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58400" y="41605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Reset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8503920" y="4709160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95360" y="4800600"/>
            <a:ext cx="26974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Running OCR — Please Wait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595360" y="5029200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Reading front of ID...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8595360" y="5285232"/>
            <a:ext cx="2697480" cy="73152"/>
          </a:xfrm>
          <a:prstGeom prst="rect">
            <a:avLst/>
          </a:prstGeom>
          <a:solidFill>
            <a:srgbClr val="DDE4EC"/>
          </a:solidFill>
        </p:spPr>
      </p:sp>
      <p:sp>
        <p:nvSpPr>
          <p:cNvPr id="36" name="Shape 34"/>
          <p:cNvSpPr/>
          <p:nvPr/>
        </p:nvSpPr>
        <p:spPr>
          <a:xfrm>
            <a:off x="8595360" y="5285232"/>
            <a:ext cx="914400" cy="73152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7" name="Text 35"/>
          <p:cNvSpPr/>
          <p:nvPr/>
        </p:nvSpPr>
        <p:spPr>
          <a:xfrm>
            <a:off x="8595360" y="5413248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Starting OCR engine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" name="Text 1"/>
          <p:cNvSpPr/>
          <p:nvPr/>
        </p:nvSpPr>
        <p:spPr>
          <a:xfrm>
            <a:off x="548640" y="502920"/>
            <a:ext cx="5486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3A93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H E   P R O B L E 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9601200" cy="1280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B2A4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Field data collection is</a:t>
            </a:r>
            <a:endParaRPr lang="en-US" sz="3000" dirty="0"/>
          </a:p>
          <a:p>
            <a:pPr marL="0" indent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B2A4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breaking the enrolment process.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324612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3520440"/>
            <a:ext cx="594360" cy="594360"/>
          </a:xfrm>
          <a:prstGeom prst="ellipse">
            <a:avLst/>
          </a:prstGeom>
          <a:solidFill>
            <a:srgbClr val="C1622D"/>
          </a:solidFill>
        </p:spPr>
      </p:sp>
      <p:sp>
        <p:nvSpPr>
          <p:cNvPr id="7" name="Text 5"/>
          <p:cNvSpPr/>
          <p:nvPr/>
        </p:nvSpPr>
        <p:spPr>
          <a:xfrm>
            <a:off x="822960" y="352044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!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29768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Handwriting Errors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4709160"/>
            <a:ext cx="2880360" cy="1143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NINs, names and dates copied manually from IDs — leading to frequent transcription mistakes and invalid records.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97680" y="324612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3520440"/>
            <a:ext cx="594360" cy="594360"/>
          </a:xfrm>
          <a:prstGeom prst="ellipse">
            <a:avLst/>
          </a:prstGeom>
          <a:solidFill>
            <a:srgbClr val="0E3A63"/>
          </a:solidFill>
        </p:spPr>
      </p:sp>
      <p:sp>
        <p:nvSpPr>
          <p:cNvPr id="12" name="Text 10"/>
          <p:cNvSpPr/>
          <p:nvPr/>
        </p:nvSpPr>
        <p:spPr>
          <a:xfrm>
            <a:off x="4572000" y="352044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⏱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429768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Slow Processing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4709160"/>
            <a:ext cx="2880360" cy="1143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Each member requires a full manual form. High volumes during drives means delays, queues and staff fatigue.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324612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3520440"/>
            <a:ext cx="594360" cy="594360"/>
          </a:xfrm>
          <a:prstGeom prst="ellipse">
            <a:avLst/>
          </a:prstGeom>
          <a:solidFill>
            <a:srgbClr val="2E8B57"/>
          </a:solidFill>
        </p:spPr>
      </p:sp>
      <p:sp>
        <p:nvSpPr>
          <p:cNvPr id="17" name="Text 15"/>
          <p:cNvSpPr/>
          <p:nvPr/>
        </p:nvSpPr>
        <p:spPr>
          <a:xfrm>
            <a:off x="8321040" y="352044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▤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21040" y="4297680"/>
            <a:ext cx="2880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Data Quality Issues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21040" y="4709160"/>
            <a:ext cx="2880360" cy="1143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Inconsistent formatting, missing fields and illegible entries require costly re-verification before onboarding.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" name="Text 1"/>
          <p:cNvSpPr/>
          <p:nvPr/>
        </p:nvSpPr>
        <p:spPr>
          <a:xfrm>
            <a:off x="502920" y="548640"/>
            <a:ext cx="329184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</a:t>
            </a:r>
            <a:endParaRPr lang="en-US" sz="3200" dirty="0"/>
          </a:p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SOLUTION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914400" cy="914400"/>
          </a:xfrm>
          <a:prstGeom prst="roundRect">
            <a:avLst>
              <a:gd name="adj" fmla="val 10000"/>
            </a:avLst>
          </a:prstGeom>
          <a:solidFill>
            <a:srgbClr val="E3A93E"/>
          </a:solidFill>
        </p:spPr>
      </p:sp>
      <p:sp>
        <p:nvSpPr>
          <p:cNvPr id="5" name="Text 3"/>
          <p:cNvSpPr/>
          <p:nvPr/>
        </p:nvSpPr>
        <p:spPr>
          <a:xfrm>
            <a:off x="502920" y="214884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📷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3291840"/>
            <a:ext cx="33832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Photo-to-Data</a:t>
            </a:r>
            <a:endParaRPr lang="en-US" sz="19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Automation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02920" y="4160520"/>
            <a:ext cx="333756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lightweight tool that reads any Uganda National ID with a phone camera — no typing.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0" y="502920"/>
            <a:ext cx="54864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E3A6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How It Works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572000" y="1325880"/>
            <a:ext cx="502920" cy="502920"/>
          </a:xfrm>
          <a:prstGeom prst="ellipse">
            <a:avLst/>
          </a:prstGeom>
          <a:solidFill>
            <a:srgbClr val="0E3A63"/>
          </a:solidFill>
        </p:spPr>
      </p:sp>
      <p:sp>
        <p:nvSpPr>
          <p:cNvPr id="10" name="Text 8"/>
          <p:cNvSpPr/>
          <p:nvPr/>
        </p:nvSpPr>
        <p:spPr>
          <a:xfrm>
            <a:off x="4572000" y="13258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257800" y="1280160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Staff photographs the ID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257800" y="1618488"/>
            <a:ext cx="63093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Upload front and back of the member's National ID directly from a phone or laptop camera.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560320"/>
            <a:ext cx="502920" cy="502920"/>
          </a:xfrm>
          <a:prstGeom prst="ellipse">
            <a:avLst/>
          </a:prstGeom>
          <a:solidFill>
            <a:srgbClr val="0E3A63"/>
          </a:solidFill>
        </p:spPr>
      </p:sp>
      <p:sp>
        <p:nvSpPr>
          <p:cNvPr id="14" name="Text 12"/>
          <p:cNvSpPr/>
          <p:nvPr/>
        </p:nvSpPr>
        <p:spPr>
          <a:xfrm>
            <a:off x="4572000" y="256032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57800" y="2514600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OCR reads the card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57800" y="2852928"/>
            <a:ext cx="63093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tool extracts name, NIN, date of birth, expiry, village and district automatically.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0" y="3794760"/>
            <a:ext cx="502920" cy="502920"/>
          </a:xfrm>
          <a:prstGeom prst="ellipse">
            <a:avLst/>
          </a:prstGeom>
          <a:solidFill>
            <a:srgbClr val="0E3A63"/>
          </a:solidFill>
        </p:spPr>
      </p:sp>
      <p:sp>
        <p:nvSpPr>
          <p:cNvPr id="18" name="Text 16"/>
          <p:cNvSpPr/>
          <p:nvPr/>
        </p:nvSpPr>
        <p:spPr>
          <a:xfrm>
            <a:off x="4572000" y="379476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257800" y="3749040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Staff review &amp; confirm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57800" y="4087368"/>
            <a:ext cx="63093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form pre-fills with extracted data. Staff verify, add the phone number, and save.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0" y="5029200"/>
            <a:ext cx="502920" cy="502920"/>
          </a:xfrm>
          <a:prstGeom prst="ellipse">
            <a:avLst/>
          </a:prstGeom>
          <a:solidFill>
            <a:srgbClr val="0E3A63"/>
          </a:solidFill>
        </p:spPr>
      </p:sp>
      <p:sp>
        <p:nvSpPr>
          <p:cNvPr id="22" name="Text 20"/>
          <p:cNvSpPr/>
          <p:nvPr/>
        </p:nvSpPr>
        <p:spPr>
          <a:xfrm>
            <a:off x="4572000" y="502920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257800" y="4983480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Export to Excel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257800" y="5321808"/>
            <a:ext cx="63093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All captured records export instantly as a formatted .xlsx file, ready for upload.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" name="Text 1"/>
          <p:cNvSpPr/>
          <p:nvPr/>
        </p:nvSpPr>
        <p:spPr>
          <a:xfrm>
            <a:off x="502920" y="548640"/>
            <a:ext cx="329184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</a:t>
            </a:r>
            <a:endParaRPr lang="en-US" sz="3200" dirty="0"/>
          </a:p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SOLUTION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914400" cy="914400"/>
          </a:xfrm>
          <a:prstGeom prst="roundRect">
            <a:avLst>
              <a:gd name="adj" fmla="val 10000"/>
            </a:avLst>
          </a:prstGeom>
          <a:solidFill>
            <a:srgbClr val="E3A93E"/>
          </a:solidFill>
        </p:spPr>
      </p:sp>
      <p:sp>
        <p:nvSpPr>
          <p:cNvPr id="5" name="Text 3"/>
          <p:cNvSpPr/>
          <p:nvPr/>
        </p:nvSpPr>
        <p:spPr>
          <a:xfrm>
            <a:off x="502920" y="214884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📷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3291840"/>
            <a:ext cx="33832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Photo-to-Data</a:t>
            </a:r>
            <a:endParaRPr lang="en-US" sz="19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Automation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02920" y="4160520"/>
            <a:ext cx="333756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lightweight tool that reads any Uganda National ID with a phone camera — no typing.</a:t>
            </a:r>
            <a:endParaRPr lang="en-US" sz="1300" dirty="0"/>
          </a:p>
        </p:txBody>
      </p:sp>
      <p:sp>
        <p:nvSpPr>
          <p:cNvPr id="25" name="Text Box 24"/>
          <p:cNvSpPr txBox="1"/>
          <p:nvPr/>
        </p:nvSpPr>
        <p:spPr>
          <a:xfrm>
            <a:off x="4572000" y="508000"/>
            <a:ext cx="711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2200" b="1">
                <a:solidFill>
                  <a:srgbClr val="0D4F8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STEP 2: EDGE DETECTION &amp; PERSPECTIVE WARPING</a:t>
            </a:r>
            <a:endParaRPr lang="en-US" sz="2200" b="1">
              <a:solidFill>
                <a:srgbClr val="0D4F8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 Box 25"/>
          <p:cNvSpPr txBox="1"/>
          <p:nvPr/>
        </p:nvSpPr>
        <p:spPr>
          <a:xfrm>
            <a:off x="4572000" y="1079500"/>
            <a:ext cx="7112000" cy="4914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30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tool automatically detects card boundaries using OpenCV.js. If auto-detection fails (e.g. due to lighting), staff can manually adjust the 4 corners using a touch-friendly interface.</a:t>
            </a:r>
            <a:endParaRPr lang="en-US" sz="1300">
              <a:solidFill>
                <a:srgbClr val="33333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7" name="Picture 26" descr="screenshot_crop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8000" y="2032000"/>
            <a:ext cx="5080000" cy="4064000"/>
          </a:xfrm>
          <a:prstGeom prst="rect">
            <a:avLst/>
          </a:prstGeom>
          <a:ln w="19050">
            <a:solidFill>
              <a:srgbClr val="DDDDDD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" name="Text 1"/>
          <p:cNvSpPr/>
          <p:nvPr/>
        </p:nvSpPr>
        <p:spPr>
          <a:xfrm>
            <a:off x="502920" y="548640"/>
            <a:ext cx="329184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</a:t>
            </a:r>
            <a:endParaRPr lang="en-US" sz="3200" dirty="0"/>
          </a:p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SOLUTION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914400" cy="914400"/>
          </a:xfrm>
          <a:prstGeom prst="roundRect">
            <a:avLst>
              <a:gd name="adj" fmla="val 10000"/>
            </a:avLst>
          </a:prstGeom>
          <a:solidFill>
            <a:srgbClr val="E3A93E"/>
          </a:solidFill>
        </p:spPr>
      </p:sp>
      <p:sp>
        <p:nvSpPr>
          <p:cNvPr id="5" name="Text 3"/>
          <p:cNvSpPr/>
          <p:nvPr/>
        </p:nvSpPr>
        <p:spPr>
          <a:xfrm>
            <a:off x="502920" y="214884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📷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3291840"/>
            <a:ext cx="33832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Photo-to-Data</a:t>
            </a:r>
            <a:endParaRPr lang="en-US" sz="19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Automation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02920" y="4160520"/>
            <a:ext cx="333756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lightweight tool that reads any Uganda National ID with a phone camera — no typing.</a:t>
            </a:r>
            <a:endParaRPr lang="en-US" sz="1300" dirty="0"/>
          </a:p>
        </p:txBody>
      </p:sp>
      <p:sp>
        <p:nvSpPr>
          <p:cNvPr id="25" name="Text Box 24"/>
          <p:cNvSpPr txBox="1"/>
          <p:nvPr/>
        </p:nvSpPr>
        <p:spPr>
          <a:xfrm>
            <a:off x="4572000" y="508000"/>
            <a:ext cx="711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2200" b="1">
                <a:solidFill>
                  <a:srgbClr val="0D4F8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STEP 3: OCR DATA EXTRACTION &amp; VALIDATION</a:t>
            </a:r>
            <a:endParaRPr lang="en-US" sz="2200" b="1">
              <a:solidFill>
                <a:srgbClr val="0D4F8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 Box 25"/>
          <p:cNvSpPr txBox="1"/>
          <p:nvPr/>
        </p:nvSpPr>
        <p:spPr>
          <a:xfrm>
            <a:off x="4572000" y="1079500"/>
            <a:ext cx="7112000" cy="4914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30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Tesseract.js extracts names, NIN, DOB, and expiry. Fields are visually highlighted based on confidence levels (green for high confidence, amber for review, red for critical errors).</a:t>
            </a:r>
            <a:endParaRPr lang="en-US" sz="1300">
              <a:solidFill>
                <a:srgbClr val="33333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7" name="Picture 26" descr="screenshot_review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8000" y="2032000"/>
            <a:ext cx="5080000" cy="4064000"/>
          </a:xfrm>
          <a:prstGeom prst="rect">
            <a:avLst/>
          </a:prstGeom>
          <a:ln w="19050">
            <a:solidFill>
              <a:srgbClr val="DDDDDD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" name="Text 1"/>
          <p:cNvSpPr/>
          <p:nvPr/>
        </p:nvSpPr>
        <p:spPr>
          <a:xfrm>
            <a:off x="502920" y="548640"/>
            <a:ext cx="329184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</a:t>
            </a:r>
            <a:endParaRPr lang="en-US" sz="3200" dirty="0"/>
          </a:p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SOLUTION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914400" cy="914400"/>
          </a:xfrm>
          <a:prstGeom prst="roundRect">
            <a:avLst>
              <a:gd name="adj" fmla="val 10000"/>
            </a:avLst>
          </a:prstGeom>
          <a:solidFill>
            <a:srgbClr val="E3A93E"/>
          </a:solidFill>
        </p:spPr>
      </p:sp>
      <p:sp>
        <p:nvSpPr>
          <p:cNvPr id="5" name="Text 3"/>
          <p:cNvSpPr/>
          <p:nvPr/>
        </p:nvSpPr>
        <p:spPr>
          <a:xfrm>
            <a:off x="502920" y="214884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📷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3291840"/>
            <a:ext cx="33832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Photo-to-Data</a:t>
            </a:r>
            <a:endParaRPr lang="en-US" sz="19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Automation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02920" y="4160520"/>
            <a:ext cx="333756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lightweight tool that reads any Uganda National ID with a phone camera — no typing.</a:t>
            </a:r>
            <a:endParaRPr lang="en-US" sz="1300" dirty="0"/>
          </a:p>
        </p:txBody>
      </p:sp>
      <p:sp>
        <p:nvSpPr>
          <p:cNvPr id="25" name="Text Box 24"/>
          <p:cNvSpPr txBox="1"/>
          <p:nvPr/>
        </p:nvSpPr>
        <p:spPr>
          <a:xfrm>
            <a:off x="4572000" y="508000"/>
            <a:ext cx="711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2200" b="1">
                <a:solidFill>
                  <a:srgbClr val="0D4F8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STEP 4: OFFLINE RECORDS &amp; EXCEL EXPORT</a:t>
            </a:r>
            <a:endParaRPr lang="en-US" sz="2200" b="1">
              <a:solidFill>
                <a:srgbClr val="0D4F8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 Box 25"/>
          <p:cNvSpPr txBox="1"/>
          <p:nvPr/>
        </p:nvSpPr>
        <p:spPr>
          <a:xfrm>
            <a:off x="4572000" y="1079500"/>
            <a:ext cx="7112000" cy="4914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30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All captured data is saved locally on the device (fully offline). Staff can review, search, and export the entire drive's records to a formatted Excel spreadsheet with a single click.</a:t>
            </a:r>
            <a:endParaRPr lang="en-US" sz="1300">
              <a:solidFill>
                <a:srgbClr val="33333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7" name="Picture 26" descr="screenshot_record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8000" y="2032000"/>
            <a:ext cx="5080000" cy="4064000"/>
          </a:xfrm>
          <a:prstGeom prst="rect">
            <a:avLst/>
          </a:prstGeom>
          <a:ln w="19050">
            <a:solidFill>
              <a:srgbClr val="DDDDDD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" name="Text 1"/>
          <p:cNvSpPr/>
          <p:nvPr/>
        </p:nvSpPr>
        <p:spPr>
          <a:xfrm>
            <a:off x="502920" y="548640"/>
            <a:ext cx="329184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</a:t>
            </a:r>
            <a:endParaRPr lang="en-US" sz="3200" dirty="0"/>
          </a:p>
          <a:p>
            <a:pPr marL="0" indent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SOLUTION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914400" cy="914400"/>
          </a:xfrm>
          <a:prstGeom prst="roundRect">
            <a:avLst>
              <a:gd name="adj" fmla="val 10000"/>
            </a:avLst>
          </a:prstGeom>
          <a:solidFill>
            <a:srgbClr val="E3A93E"/>
          </a:solidFill>
        </p:spPr>
      </p:sp>
      <p:sp>
        <p:nvSpPr>
          <p:cNvPr id="5" name="Text 3"/>
          <p:cNvSpPr/>
          <p:nvPr/>
        </p:nvSpPr>
        <p:spPr>
          <a:xfrm>
            <a:off x="502920" y="214884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📷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3291840"/>
            <a:ext cx="33832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Photo-to-Data</a:t>
            </a:r>
            <a:endParaRPr lang="en-US" sz="19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Automation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02920" y="4160520"/>
            <a:ext cx="333756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lightweight tool that reads any Uganda National ID with a phone camera — no typing.</a:t>
            </a:r>
            <a:endParaRPr lang="en-US" sz="1300" dirty="0"/>
          </a:p>
        </p:txBody>
      </p:sp>
      <p:sp>
        <p:nvSpPr>
          <p:cNvPr id="25" name="Text Box 24"/>
          <p:cNvSpPr txBox="1"/>
          <p:nvPr/>
        </p:nvSpPr>
        <p:spPr>
          <a:xfrm>
            <a:off x="4572000" y="508000"/>
            <a:ext cx="7112000" cy="4298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2200" b="1">
                <a:solidFill>
                  <a:srgbClr val="0D4F8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STEP 1: CAMERA CAPTURE &amp; GALLERY UPLOAD</a:t>
            </a:r>
            <a:endParaRPr lang="en-US" sz="2200" b="1">
              <a:solidFill>
                <a:srgbClr val="0D4F8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 Box 25"/>
          <p:cNvSpPr txBox="1"/>
          <p:nvPr/>
        </p:nvSpPr>
        <p:spPr>
          <a:xfrm>
            <a:off x="4572000" y="1079500"/>
            <a:ext cx="7112000" cy="4914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30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Staff can scan the member's National ID directly using a phone or laptop camera, or choose a file from the device gallery. A custom source selector prevents Android/iOS browser camera lockout bugs.</a:t>
            </a:r>
            <a:endParaRPr lang="en-US" sz="1300">
              <a:solidFill>
                <a:srgbClr val="33333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7" name="Picture 26" descr="screenshot_selecto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8000" y="2032000"/>
            <a:ext cx="5080000" cy="4064000"/>
          </a:xfrm>
          <a:prstGeom prst="rect">
            <a:avLst/>
          </a:prstGeom>
          <a:ln w="19050">
            <a:solidFill>
              <a:srgbClr val="DDDDDD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" name="Text 1"/>
          <p:cNvSpPr/>
          <p:nvPr/>
        </p:nvSpPr>
        <p:spPr>
          <a:xfrm>
            <a:off x="548640" y="502920"/>
            <a:ext cx="5486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3A93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E Y   B E N E F I T 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0E3A63"/>
          </a:solidFill>
        </p:spPr>
      </p:sp>
      <p:sp>
        <p:nvSpPr>
          <p:cNvPr id="5" name="Text 3"/>
          <p:cNvSpPr/>
          <p:nvPr/>
        </p:nvSpPr>
        <p:spPr>
          <a:xfrm>
            <a:off x="548640" y="1828800"/>
            <a:ext cx="3429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↓ 90%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468880"/>
            <a:ext cx="3429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Manual</a:t>
            </a:r>
            <a:endParaRPr lang="en-US" sz="12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entry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0" y="169164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0E3A63"/>
          </a:solidFill>
        </p:spPr>
      </p:sp>
      <p:sp>
        <p:nvSpPr>
          <p:cNvPr id="8" name="Text 6"/>
          <p:cNvSpPr/>
          <p:nvPr/>
        </p:nvSpPr>
        <p:spPr>
          <a:xfrm>
            <a:off x="4297680" y="1828800"/>
            <a:ext cx="3429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↑ 3×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297680" y="2468880"/>
            <a:ext cx="3429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Members</a:t>
            </a:r>
            <a:endParaRPr lang="en-US" sz="12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per session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169164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0E3A63"/>
          </a:solidFill>
        </p:spPr>
      </p:sp>
      <p:sp>
        <p:nvSpPr>
          <p:cNvPr id="11" name="Text 9"/>
          <p:cNvSpPr/>
          <p:nvPr/>
        </p:nvSpPr>
        <p:spPr>
          <a:xfrm>
            <a:off x="8046720" y="1828800"/>
            <a:ext cx="3429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046720" y="2468880"/>
            <a:ext cx="3429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Internet</a:t>
            </a:r>
            <a:endParaRPr lang="en-US" sz="12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20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required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657600"/>
            <a:ext cx="502920" cy="502920"/>
          </a:xfrm>
          <a:prstGeom prst="ellipse">
            <a:avLst/>
          </a:prstGeom>
          <a:solidFill>
            <a:srgbClr val="2E8B57"/>
          </a:solidFill>
        </p:spPr>
      </p:sp>
      <p:sp>
        <p:nvSpPr>
          <p:cNvPr id="15" name="Text 13"/>
          <p:cNvSpPr/>
          <p:nvPr/>
        </p:nvSpPr>
        <p:spPr>
          <a:xfrm>
            <a:off x="777240" y="365760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4251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Accurate Data, First Time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463040" y="3867912"/>
            <a:ext cx="4251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OCR reads directly from the ID — eliminating handwriting misinterpretation and transcription errors on NINs, names and dates.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17920" y="333756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46520" y="3657600"/>
            <a:ext cx="502920" cy="502920"/>
          </a:xfrm>
          <a:prstGeom prst="ellipse">
            <a:avLst/>
          </a:prstGeom>
          <a:solidFill>
            <a:srgbClr val="0E3A63"/>
          </a:solidFill>
        </p:spPr>
      </p:sp>
      <p:sp>
        <p:nvSpPr>
          <p:cNvPr id="20" name="Text 18"/>
          <p:cNvSpPr/>
          <p:nvPr/>
        </p:nvSpPr>
        <p:spPr>
          <a:xfrm>
            <a:off x="6446520" y="365760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🔒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132320" y="3520440"/>
            <a:ext cx="4251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Secure &amp; Fully Offline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132320" y="3867912"/>
            <a:ext cx="4251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data leaves the device. The tool runs entirely on the user's machine with no cloud connection or external server involved.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02920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5349240"/>
            <a:ext cx="502920" cy="502920"/>
          </a:xfrm>
          <a:prstGeom prst="ellipse">
            <a:avLst/>
          </a:prstGeom>
          <a:solidFill>
            <a:srgbClr val="2E8B57"/>
          </a:solidFill>
        </p:spPr>
      </p:sp>
      <p:sp>
        <p:nvSpPr>
          <p:cNvPr id="25" name="Text 23"/>
          <p:cNvSpPr/>
          <p:nvPr/>
        </p:nvSpPr>
        <p:spPr>
          <a:xfrm>
            <a:off x="777240" y="534924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📄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463040" y="5212080"/>
            <a:ext cx="4251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Instant Excel Export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463040" y="5559552"/>
            <a:ext cx="4251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All records from a session export in one click to a formatted spreadsheet, ready for direct upload to the NSSF system.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17920" y="502920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46520" y="5349240"/>
            <a:ext cx="502920" cy="502920"/>
          </a:xfrm>
          <a:prstGeom prst="ellipse">
            <a:avLst/>
          </a:prstGeom>
          <a:solidFill>
            <a:srgbClr val="C1622D"/>
          </a:solidFill>
        </p:spPr>
      </p:sp>
      <p:sp>
        <p:nvSpPr>
          <p:cNvPr id="30" name="Text 28"/>
          <p:cNvSpPr/>
          <p:nvPr/>
        </p:nvSpPr>
        <p:spPr>
          <a:xfrm>
            <a:off x="6446520" y="534924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📶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32320" y="5212080"/>
            <a:ext cx="4251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Works Anywhere — No Internet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7132320" y="5559552"/>
            <a:ext cx="42519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Designed for field conditions. The app runs offline in remote areas, market drives or locations with no reliable data signal.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3A6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Before vs. After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same enrolment drive — two very different outcomes.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892040" cy="4480560"/>
          </a:xfrm>
          <a:prstGeom prst="roundRect">
            <a:avLst>
              <a:gd name="adj" fmla="val 1633"/>
            </a:avLst>
          </a:prstGeom>
          <a:solidFill>
            <a:srgbClr val="F4F0EC"/>
          </a:solidFill>
          <a:ln w="12700">
            <a:solidFill>
              <a:srgbClr val="E3D9C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83080"/>
            <a:ext cx="4343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162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E F O R 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Staff copy NINs by hand from physical cards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78892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Frequent transcription errors on names &amp; numbers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333756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Illegible handwriting causes rejected records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388620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Missing fields require follow-up calls to members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43484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Manual data entry into spreadsheets takes hours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22960" y="498348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Data quality checks delay onboarding by days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23560" y="3474720"/>
            <a:ext cx="822960" cy="640080"/>
          </a:xfrm>
          <a:prstGeom prst="rightArrow">
            <a:avLst/>
          </a:prstGeom>
          <a:solidFill>
            <a:srgbClr val="E3A93E"/>
          </a:solidFill>
        </p:spPr>
      </p:sp>
      <p:sp>
        <p:nvSpPr>
          <p:cNvPr id="13" name="Shape 11"/>
          <p:cNvSpPr/>
          <p:nvPr/>
        </p:nvSpPr>
        <p:spPr>
          <a:xfrm>
            <a:off x="6629400" y="1554480"/>
            <a:ext cx="4892040" cy="4480560"/>
          </a:xfrm>
          <a:prstGeom prst="roundRect">
            <a:avLst>
              <a:gd name="adj" fmla="val 1633"/>
            </a:avLst>
          </a:prstGeom>
          <a:solidFill>
            <a:srgbClr val="0E3A63"/>
          </a:solidFill>
        </p:spPr>
      </p:sp>
      <p:sp>
        <p:nvSpPr>
          <p:cNvPr id="14" name="Text 12"/>
          <p:cNvSpPr/>
          <p:nvPr/>
        </p:nvSpPr>
        <p:spPr>
          <a:xfrm>
            <a:off x="6903720" y="1783080"/>
            <a:ext cx="4343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E3A93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F T E 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03720" y="224028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Staff photograph the ID — no typing required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903720" y="278892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OCR reads NIN, names, DOB and location instantly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903720" y="333756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Form pre-fills automatically for staff to confirm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903720" y="388620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Phone number added manually — all other fields auto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903720" y="443484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One click exports all records to a clean Excel file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903720" y="4983480"/>
            <a:ext cx="43434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 Data is accurate and ready for upload same day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3A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91440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Ready for Deployment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86868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500" i="1" dirty="0">
                <a:solidFill>
                  <a:srgbClr val="E3A93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 tool is built, currently in testing and ready for a pilot run across field enrolment teams.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2377440"/>
            <a:ext cx="365760" cy="365760"/>
          </a:xfrm>
          <a:prstGeom prst="ellipse">
            <a:avLst/>
          </a:prstGeom>
          <a:solidFill>
            <a:srgbClr val="E3A93E"/>
          </a:solidFill>
        </p:spPr>
      </p:sp>
      <p:sp>
        <p:nvSpPr>
          <p:cNvPr id="5" name="Text 3"/>
          <p:cNvSpPr/>
          <p:nvPr/>
        </p:nvSpPr>
        <p:spPr>
          <a:xfrm>
            <a:off x="594360" y="237744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3A6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43000" y="2331720"/>
            <a:ext cx="98755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dirty="0">
                <a:solidFill>
                  <a:srgbClr val="E7EEF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installation required — runs directly in any web browser on a phone, tablet or laptop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3246120"/>
            <a:ext cx="365760" cy="365760"/>
          </a:xfrm>
          <a:prstGeom prst="ellipse">
            <a:avLst/>
          </a:prstGeom>
          <a:solidFill>
            <a:srgbClr val="E3A93E"/>
          </a:solidFill>
        </p:spPr>
      </p:sp>
      <p:sp>
        <p:nvSpPr>
          <p:cNvPr id="8" name="Text 6"/>
          <p:cNvSpPr/>
          <p:nvPr/>
        </p:nvSpPr>
        <p:spPr>
          <a:xfrm>
            <a:off x="594360" y="324612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3A6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43000" y="3200400"/>
            <a:ext cx="98755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dirty="0">
                <a:solidFill>
                  <a:srgbClr val="E7EEF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Fully offline — no internet connection, external account or cloud service needed in the field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" y="4114800"/>
            <a:ext cx="365760" cy="365760"/>
          </a:xfrm>
          <a:prstGeom prst="ellipse">
            <a:avLst/>
          </a:prstGeom>
          <a:solidFill>
            <a:srgbClr val="E3A93E"/>
          </a:solidFill>
        </p:spPr>
      </p:sp>
      <p:sp>
        <p:nvSpPr>
          <p:cNvPr id="11" name="Text 9"/>
          <p:cNvSpPr/>
          <p:nvPr/>
        </p:nvSpPr>
        <p:spPr>
          <a:xfrm>
            <a:off x="594360" y="411480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3A6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43000" y="4069080"/>
            <a:ext cx="98755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dirty="0">
                <a:solidFill>
                  <a:srgbClr val="E7EEF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Field staff can be trained and actively collecting accurate member data within minutes of setup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669280"/>
            <a:ext cx="10515600" cy="18288"/>
          </a:xfrm>
          <a:prstGeom prst="rect">
            <a:avLst/>
          </a:prstGeom>
          <a:solidFill>
            <a:srgbClr val="2E5A85"/>
          </a:solidFill>
        </p:spPr>
      </p:sp>
      <p:sp>
        <p:nvSpPr>
          <p:cNvPr id="14" name="Text 12"/>
          <p:cNvSpPr/>
          <p:nvPr/>
        </p:nvSpPr>
        <p:spPr>
          <a:xfrm>
            <a:off x="548640" y="5852160"/>
            <a:ext cx="91440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5B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NSSF SmartLife Flexi Enrolment  ·  Enterprise &amp; Growth Department  ·  2026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6217920"/>
            <a:ext cx="10515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200" dirty="0">
                <a:solidFill>
                  <a:srgbClr val="5D779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S S F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E3A63"/>
          </a:solidFill>
        </p:spPr>
      </p:sp>
      <p:sp>
        <p:nvSpPr>
          <p:cNvPr id="3" name="Text 1"/>
          <p:cNvSpPr/>
          <p:nvPr/>
        </p:nvSpPr>
        <p:spPr>
          <a:xfrm>
            <a:off x="502920" y="457200"/>
            <a:ext cx="32918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3A93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E V E L O P E D   B 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280160" y="914400"/>
            <a:ext cx="1645920" cy="1645920"/>
          </a:xfrm>
          <a:prstGeom prst="ellipse">
            <a:avLst/>
          </a:prstGeom>
          <a:solidFill>
            <a:srgbClr val="2A5686"/>
          </a:solidFill>
        </p:spPr>
      </p:sp>
      <p:sp>
        <p:nvSpPr>
          <p:cNvPr id="5" name="Text 3"/>
          <p:cNvSpPr/>
          <p:nvPr/>
        </p:nvSpPr>
        <p:spPr>
          <a:xfrm>
            <a:off x="1280160" y="914400"/>
            <a:ext cx="1645920" cy="1645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SLJ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2743200"/>
            <a:ext cx="338328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ts val="28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Samuel</a:t>
            </a:r>
            <a:endParaRPr lang="en-US" sz="2400" dirty="0"/>
          </a:p>
          <a:p>
            <a:pPr marL="0" indent="0">
              <a:lnSpc>
                <a:spcPts val="28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Lyomoki Junior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3849624"/>
            <a:ext cx="91440" cy="91440"/>
          </a:xfrm>
          <a:prstGeom prst="ellipse">
            <a:avLst/>
          </a:prstGeom>
          <a:solidFill>
            <a:srgbClr val="AFC3D8"/>
          </a:solidFill>
        </p:spPr>
      </p:sp>
      <p:sp>
        <p:nvSpPr>
          <p:cNvPr id="8" name="Text 6"/>
          <p:cNvSpPr/>
          <p:nvPr/>
        </p:nvSpPr>
        <p:spPr>
          <a:xfrm>
            <a:off x="777240" y="3721608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Global Leadership &amp; Governance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4306824"/>
            <a:ext cx="91440" cy="91440"/>
          </a:xfrm>
          <a:prstGeom prst="ellipse">
            <a:avLst/>
          </a:prstGeom>
          <a:solidFill>
            <a:srgbClr val="AFC3D8"/>
          </a:solidFill>
        </p:spPr>
      </p:sp>
      <p:sp>
        <p:nvSpPr>
          <p:cNvPr id="10" name="Text 8"/>
          <p:cNvSpPr/>
          <p:nvPr/>
        </p:nvSpPr>
        <p:spPr>
          <a:xfrm>
            <a:off x="777240" y="4178808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USIU-Africa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764024"/>
            <a:ext cx="91440" cy="91440"/>
          </a:xfrm>
          <a:prstGeom prst="ellipse">
            <a:avLst/>
          </a:prstGeom>
          <a:solidFill>
            <a:srgbClr val="AFC3D8"/>
          </a:solidFill>
        </p:spPr>
      </p:sp>
      <p:sp>
        <p:nvSpPr>
          <p:cNvPr id="12" name="Text 10"/>
          <p:cNvSpPr/>
          <p:nvPr/>
        </p:nvSpPr>
        <p:spPr>
          <a:xfrm>
            <a:off x="777240" y="4636008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Intern — Enterprise &amp; Growth Dept.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5221224"/>
            <a:ext cx="91440" cy="91440"/>
          </a:xfrm>
          <a:prstGeom prst="ellipse">
            <a:avLst/>
          </a:prstGeom>
          <a:solidFill>
            <a:srgbClr val="AFC3D8"/>
          </a:solidFill>
        </p:spPr>
      </p:sp>
      <p:sp>
        <p:nvSpPr>
          <p:cNvPr id="14" name="Text 12"/>
          <p:cNvSpPr/>
          <p:nvPr/>
        </p:nvSpPr>
        <p:spPr>
          <a:xfrm>
            <a:off x="777240" y="5093208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6E0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Summer Internship 2026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000" y="457200"/>
            <a:ext cx="6400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E3A6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 Tool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572000" y="960120"/>
            <a:ext cx="64008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4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NSSF SmartLife Flexi — ID Capture &amp; Data Extraction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617720" y="1673352"/>
            <a:ext cx="128016" cy="128016"/>
          </a:xfrm>
          <a:prstGeom prst="ellipse">
            <a:avLst/>
          </a:prstGeom>
          <a:solidFill>
            <a:srgbClr val="E3A93E"/>
          </a:solidFill>
        </p:spPr>
      </p:sp>
      <p:sp>
        <p:nvSpPr>
          <p:cNvPr id="18" name="Text 16"/>
          <p:cNvSpPr/>
          <p:nvPr/>
        </p:nvSpPr>
        <p:spPr>
          <a:xfrm>
            <a:off x="4892040" y="1554480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Photograph any Uganda National ID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17720" y="2295144"/>
            <a:ext cx="128016" cy="128016"/>
          </a:xfrm>
          <a:prstGeom prst="ellipse">
            <a:avLst/>
          </a:prstGeom>
          <a:solidFill>
            <a:srgbClr val="E3A93E"/>
          </a:solidFill>
        </p:spPr>
      </p:sp>
      <p:sp>
        <p:nvSpPr>
          <p:cNvPr id="20" name="Text 18"/>
          <p:cNvSpPr/>
          <p:nvPr/>
        </p:nvSpPr>
        <p:spPr>
          <a:xfrm>
            <a:off x="4892040" y="2176272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OCR reads NIN, name, DOB &amp; location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17720" y="2916936"/>
            <a:ext cx="128016" cy="128016"/>
          </a:xfrm>
          <a:prstGeom prst="ellipse">
            <a:avLst/>
          </a:prstGeom>
          <a:solidFill>
            <a:srgbClr val="E3A93E"/>
          </a:solidFill>
        </p:spPr>
      </p:sp>
      <p:sp>
        <p:nvSpPr>
          <p:cNvPr id="22" name="Text 20"/>
          <p:cNvSpPr/>
          <p:nvPr/>
        </p:nvSpPr>
        <p:spPr>
          <a:xfrm>
            <a:off x="4892040" y="2798064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Auto-fills a verification form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617720" y="3538728"/>
            <a:ext cx="128016" cy="128016"/>
          </a:xfrm>
          <a:prstGeom prst="ellipse">
            <a:avLst/>
          </a:prstGeom>
          <a:solidFill>
            <a:srgbClr val="E3A93E"/>
          </a:solidFill>
        </p:spPr>
      </p:sp>
      <p:sp>
        <p:nvSpPr>
          <p:cNvPr id="24" name="Text 22"/>
          <p:cNvSpPr/>
          <p:nvPr/>
        </p:nvSpPr>
        <p:spPr>
          <a:xfrm>
            <a:off x="4892040" y="3419856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Exports records as .xlsx Excel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17720" y="4160520"/>
            <a:ext cx="128016" cy="128016"/>
          </a:xfrm>
          <a:prstGeom prst="ellipse">
            <a:avLst/>
          </a:prstGeom>
          <a:solidFill>
            <a:srgbClr val="E3A93E"/>
          </a:solidFill>
        </p:spPr>
      </p:sp>
      <p:sp>
        <p:nvSpPr>
          <p:cNvPr id="26" name="Text 24"/>
          <p:cNvSpPr/>
          <p:nvPr/>
        </p:nvSpPr>
        <p:spPr>
          <a:xfrm>
            <a:off x="4892040" y="4041648"/>
            <a:ext cx="6217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 offline — no internet needed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0" y="4892040"/>
            <a:ext cx="6949440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effectLst>
            <a:outerShdw blurRad="101600" dist="38100" dir="5400000" algn="bl" rotWithShape="0">
              <a:srgbClr val="1B2A41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572000" y="4892040"/>
            <a:ext cx="6949440" cy="1417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i="1" dirty="0">
                <a:solidFill>
                  <a:srgbClr val="0E3A6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NSSF A Better Life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5113</Words>
  <Application>WPS Presentation</Application>
  <PresentationFormat>On-screen Show (16:9)</PresentationFormat>
  <Paragraphs>280</Paragraphs>
  <Slides>11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1" baseType="lpstr">
      <vt:lpstr>Arial</vt:lpstr>
      <vt:lpstr>SimSun</vt:lpstr>
      <vt:lpstr>Wingdings</vt:lpstr>
      <vt:lpstr>Calibri</vt:lpstr>
      <vt:lpstr>Calibri</vt:lpstr>
      <vt:lpstr>Calibri</vt:lpstr>
      <vt:lpstr>Cambria</vt:lpstr>
      <vt:lpstr>Cambria</vt:lpstr>
      <vt:lpstr>Cambria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HP</cp:lastModifiedBy>
  <cp:revision>5</cp:revision>
  <dcterms:created xsi:type="dcterms:W3CDTF">2026-07-10T07:45:00Z</dcterms:created>
  <dcterms:modified xsi:type="dcterms:W3CDTF">2026-07-10T08:20:25Z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5A4BA72677F34BBCBF85D597C4592EBC_12</vt:lpwstr>
  </property>
  <property fmtid="{D5CDD505-2E9C-101B-9397-08002B2CF9AE}" pid="3" name="KSOProductBuildVer">
    <vt:lpwstr>1033-12.1.0.26880</vt:lpwstr>
  </property>
</Properties>
</file>