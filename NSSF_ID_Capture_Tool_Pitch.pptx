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8" r:id="rId7"/>
    <p:sldId id="269" r:id="rId8"/>
    <p:sldId id="270" r:id="rId9"/>
    <p:sldId id="267" r:id="rId10"/>
    <p:sldId id="259" r:id="rId11"/>
    <p:sldId id="260" r:id="rId12"/>
    <p:sldId id="261" r:id="rId13"/>
    <p:sldId id="262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S S 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6949440" cy="2103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SmartLife Flexi</a:t>
            </a:r>
            <a:endParaRPr lang="en-US" sz="44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ID Capture Tool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Solving the Field Data Collection Problem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1554480" cy="45720"/>
          </a:xfrm>
          <a:prstGeom prst="rect">
            <a:avLst/>
          </a:prstGeom>
          <a:solidFill>
            <a:srgbClr val="E3A93E"/>
          </a:solidFill>
        </p:spPr>
      </p:sp>
      <p:sp>
        <p:nvSpPr>
          <p:cNvPr id="6" name="Text 4"/>
          <p:cNvSpPr/>
          <p:nvPr/>
        </p:nvSpPr>
        <p:spPr>
          <a:xfrm>
            <a:off x="548640" y="470916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Enterprise &amp; Growth Department  ·  June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321040" y="502920"/>
            <a:ext cx="3291840" cy="585216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1040" y="502920"/>
            <a:ext cx="32918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</p:spPr>
      </p:sp>
      <p:sp>
        <p:nvSpPr>
          <p:cNvPr id="9" name="Shape 7"/>
          <p:cNvSpPr/>
          <p:nvPr/>
        </p:nvSpPr>
        <p:spPr>
          <a:xfrm>
            <a:off x="8321040" y="960120"/>
            <a:ext cx="3291840" cy="228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Shape 8"/>
          <p:cNvSpPr/>
          <p:nvPr/>
        </p:nvSpPr>
        <p:spPr>
          <a:xfrm>
            <a:off x="8458200" y="621792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0E3A63"/>
          </a:solidFill>
        </p:spPr>
      </p:sp>
      <p:sp>
        <p:nvSpPr>
          <p:cNvPr id="11" name="Text 9"/>
          <p:cNvSpPr/>
          <p:nvPr/>
        </p:nvSpPr>
        <p:spPr>
          <a:xfrm>
            <a:off x="8458200" y="62179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06840" y="60350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SmartLife Flexi Enrolment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006840" y="82296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ID Capture &amp; Data Extraction Tool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1064240" y="685800"/>
            <a:ext cx="73152" cy="73152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5" name="Text 13"/>
          <p:cNvSpPr/>
          <p:nvPr/>
        </p:nvSpPr>
        <p:spPr>
          <a:xfrm>
            <a:off x="11155680" y="62179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Offline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503920" y="1280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Capture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58400" y="1280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503920" y="1572768"/>
            <a:ext cx="1280160" cy="27432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19" name="Text 17"/>
          <p:cNvSpPr/>
          <p:nvPr/>
        </p:nvSpPr>
        <p:spPr>
          <a:xfrm>
            <a:off x="8503920" y="17830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ID — Both Sides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03920" y="210312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0B2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12680" y="210312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8803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Front loaded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012680" y="28803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Back loaded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503920" y="3200400"/>
            <a:ext cx="2880360" cy="457200"/>
          </a:xfrm>
          <a:prstGeom prst="roundRect">
            <a:avLst>
              <a:gd name="adj" fmla="val 12000"/>
            </a:avLst>
          </a:prstGeom>
          <a:solidFill>
            <a:srgbClr val="E7EEF6"/>
          </a:solidFill>
        </p:spPr>
      </p:sp>
      <p:sp>
        <p:nvSpPr>
          <p:cNvPr id="25" name="Text 23"/>
          <p:cNvSpPr/>
          <p:nvPr/>
        </p:nvSpPr>
        <p:spPr>
          <a:xfrm>
            <a:off x="8595360" y="3218688"/>
            <a:ext cx="26974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both sides for a complete record. Front gives identity data; back gives location data.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503920" y="374904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DEF0E2"/>
          </a:solidFill>
        </p:spPr>
      </p:sp>
      <p:sp>
        <p:nvSpPr>
          <p:cNvPr id="27" name="Text 25"/>
          <p:cNvSpPr/>
          <p:nvPr/>
        </p:nvSpPr>
        <p:spPr>
          <a:xfrm>
            <a:off x="8595360" y="374904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Both sides uploaded — ready to extract all data.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8503920" y="4160520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0E3A63"/>
          </a:solidFill>
        </p:spPr>
      </p:sp>
      <p:sp>
        <p:nvSpPr>
          <p:cNvPr id="29" name="Text 27"/>
          <p:cNvSpPr/>
          <p:nvPr/>
        </p:nvSpPr>
        <p:spPr>
          <a:xfrm>
            <a:off x="8503920" y="41605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Extract Data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0058400" y="4160520"/>
            <a:ext cx="9144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41605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Reset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503920" y="470916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95360" y="4800600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Running OCR — Please Wait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95360" y="502920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Reading front of ID...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595360" y="5285232"/>
            <a:ext cx="2697480" cy="73152"/>
          </a:xfrm>
          <a:prstGeom prst="rect">
            <a:avLst/>
          </a:prstGeom>
          <a:solidFill>
            <a:srgbClr val="DDE4EC"/>
          </a:solidFill>
        </p:spPr>
      </p:sp>
      <p:sp>
        <p:nvSpPr>
          <p:cNvPr id="36" name="Shape 34"/>
          <p:cNvSpPr/>
          <p:nvPr/>
        </p:nvSpPr>
        <p:spPr>
          <a:xfrm>
            <a:off x="8595360" y="5285232"/>
            <a:ext cx="914400" cy="73152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7" name="Text 35"/>
          <p:cNvSpPr/>
          <p:nvPr/>
        </p:nvSpPr>
        <p:spPr>
          <a:xfrm>
            <a:off x="8595360" y="5413248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Starting OCR engine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H E   P R O B L E 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96012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Field data collection is</a:t>
            </a:r>
            <a:endParaRPr lang="en-US" sz="30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breaking the enrolment process.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C1622D"/>
          </a:solidFill>
        </p:spPr>
      </p:sp>
      <p:sp>
        <p:nvSpPr>
          <p:cNvPr id="7" name="Text 5"/>
          <p:cNvSpPr/>
          <p:nvPr/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!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Handwriting Errors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NINs, names and dates copied manually from IDs — leading to frequent transcription mistakes and invalid records.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3520440"/>
            <a:ext cx="594360" cy="59436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2" name="Text 10"/>
          <p:cNvSpPr/>
          <p:nvPr/>
        </p:nvSpPr>
        <p:spPr>
          <a:xfrm>
            <a:off x="457200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Each member requires a full manual form. High volumes during drives means delays, queues and staff fatigue.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3520440"/>
            <a:ext cx="594360" cy="59436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7" name="Text 15"/>
          <p:cNvSpPr/>
          <p:nvPr/>
        </p:nvSpPr>
        <p:spPr>
          <a:xfrm>
            <a:off x="832104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▤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Quality Issues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Inconsistent formatting, missing fields and illegible entries require costly re-verification before onboarding.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502920"/>
            <a:ext cx="5486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It Works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572000" y="132588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0" name="Text 8"/>
          <p:cNvSpPr/>
          <p:nvPr/>
        </p:nvSpPr>
        <p:spPr>
          <a:xfrm>
            <a:off x="4572000" y="13258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57800" y="128016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Staff photographs the 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257800" y="161848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front and back of the member's National ID directly from a phone or laptop camera.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4" name="Text 12"/>
          <p:cNvSpPr/>
          <p:nvPr/>
        </p:nvSpPr>
        <p:spPr>
          <a:xfrm>
            <a:off x="4572000" y="25603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57800" y="251460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the card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57800" y="285292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tool extracts name, NIN, date of birth, expiry, village and district automatically.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79476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8" name="Text 16"/>
          <p:cNvSpPr/>
          <p:nvPr/>
        </p:nvSpPr>
        <p:spPr>
          <a:xfrm>
            <a:off x="4572000" y="37947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57800" y="374904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Staff review &amp; confirm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57800" y="408736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form pre-fills with extracted data. Staff verify, add the phone number, and save.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502920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22" name="Text 20"/>
          <p:cNvSpPr/>
          <p:nvPr/>
        </p:nvSpPr>
        <p:spPr>
          <a:xfrm>
            <a:off x="4572000" y="50292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57800" y="498348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 to Excel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57800" y="532180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captured records export instantly as a formatted .xlsx file, ready for upload.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2: EDGE DETECTION &amp; PERSPECTIVE WARPING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tool automatically detects card boundaries using OpenCV.js. If auto-detection fails (e.g. due to lighting), staff can manually adjust the 4 corners using a touch-friendly interface.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cro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3: OCR DATA EXTRACTION &amp; VALIDATION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Tesseract.js extracts names, NIN, DOB, and expiry. Fields are visually highlighted based on confidence levels (green for high confidence, amber for review, red for critical errors).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4: OFFLINE RECORDS &amp; EXCEL EXPORT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captured data is saved locally on the device (fully offline). Staff can review, search, and export the entire drive's records to a formatted Excel spreadsheet with a single click.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record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1: CAMERA CAPTURE &amp; GALLERY UPLOAD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Staff can scan the member's National ID directly using a phone or laptop camera, or choose a file from the device gallery. A custom source selector prevents Android/iOS browser camera lockout bugs.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select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E Y   B E N E F I T 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5" name="Text 3"/>
          <p:cNvSpPr/>
          <p:nvPr/>
        </p:nvSpPr>
        <p:spPr>
          <a:xfrm>
            <a:off x="54864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↓ 90%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Manual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entry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8" name="Text 6"/>
          <p:cNvSpPr/>
          <p:nvPr/>
        </p:nvSpPr>
        <p:spPr>
          <a:xfrm>
            <a:off x="429768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↑ 3×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29768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Members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 session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04672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Internet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5" name="Text 13"/>
          <p:cNvSpPr/>
          <p:nvPr/>
        </p:nvSpPr>
        <p:spPr>
          <a:xfrm>
            <a:off x="777240" y="36576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Accurate Data, First Time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63040" y="386791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directly from the ID — eliminating handwriting misinterpretation and transcription errors on NINs, names and dates.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365760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20" name="Text 18"/>
          <p:cNvSpPr/>
          <p:nvPr/>
        </p:nvSpPr>
        <p:spPr>
          <a:xfrm>
            <a:off x="6446520" y="36576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0" y="352044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Secure &amp; Fully Offline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32320" y="386791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data leaves the device. The tool runs entirely on the user's machine with no cloud connection or external server involved.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349240"/>
            <a:ext cx="502920" cy="50292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25" name="Text 23"/>
          <p:cNvSpPr/>
          <p:nvPr/>
        </p:nvSpPr>
        <p:spPr>
          <a:xfrm>
            <a:off x="777240" y="53492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63040" y="52120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Instant Excel Export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463040" y="555955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records from a session export in one click to a formatted spreadsheet, ready for direct upload to the NSSF system.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5029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C1622D"/>
          </a:solidFill>
        </p:spPr>
      </p:sp>
      <p:sp>
        <p:nvSpPr>
          <p:cNvPr id="30" name="Text 28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📶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32320" y="52120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Works Anywhere — No Internet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132320" y="555955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Designed for field conditions. The app runs offline in remote areas, market drives or locations with no reliable data signal.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Before vs.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same enrolment drive — two very different outcomes.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F4F0EC"/>
          </a:solidFill>
          <a:ln w="12700">
            <a:solidFill>
              <a:srgbClr val="E3D9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4343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162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E F O R 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Staff copy NINs by hand from physical cards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Frequent transcription errors on names &amp; numbers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Illegible handwriting causes rejected records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Missing fields require follow-up calls to members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Manual data entry into spreadsheets takes hours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Data quality checks delay onboarding by days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23560" y="3474720"/>
            <a:ext cx="822960" cy="640080"/>
          </a:xfrm>
          <a:prstGeom prst="rightArrow">
            <a:avLst/>
          </a:prstGeom>
          <a:solidFill>
            <a:srgbClr val="E3A93E"/>
          </a:solidFill>
        </p:spPr>
      </p:sp>
      <p:sp>
        <p:nvSpPr>
          <p:cNvPr id="13" name="Shape 11"/>
          <p:cNvSpPr/>
          <p:nvPr/>
        </p:nvSpPr>
        <p:spPr>
          <a:xfrm>
            <a:off x="6629400" y="155448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0E3A63"/>
          </a:solidFill>
        </p:spPr>
      </p:sp>
      <p:sp>
        <p:nvSpPr>
          <p:cNvPr id="14" name="Text 12"/>
          <p:cNvSpPr/>
          <p:nvPr/>
        </p:nvSpPr>
        <p:spPr>
          <a:xfrm>
            <a:off x="6903720" y="1783080"/>
            <a:ext cx="4343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F T E 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22402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Staff photograph the ID — no typing required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903720" y="278892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OCR reads NIN, names, DOB and location instantly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903720" y="333756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Form pre-fills automatically for staff to confirm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03720" y="388620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Phone number added manually — all other fields auto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03720" y="443484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One click exports all records to a clean Excel file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903720" y="49834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Data is accurate and ready for upload same day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Ready for Deployment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8686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500" i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tool is built, currently in testing and ready for a pilot run across field enrolment teams.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94360" y="2377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233172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installation required — runs directly in any web browser on a phone, tablet or laptop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8" name="Text 6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320040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Fully offline — no internet connection, external account or cloud service needed in the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411480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11" name="Text 9"/>
          <p:cNvSpPr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406908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Field staff can be trained and actively collecting accurate member data within minutes of setup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0515600" cy="18288"/>
          </a:xfrm>
          <a:prstGeom prst="rect">
            <a:avLst/>
          </a:prstGeom>
          <a:solidFill>
            <a:srgbClr val="2E5A85"/>
          </a:solidFill>
        </p:spPr>
      </p:sp>
      <p:sp>
        <p:nvSpPr>
          <p:cNvPr id="14" name="Text 12"/>
          <p:cNvSpPr/>
          <p:nvPr/>
        </p:nvSpPr>
        <p:spPr>
          <a:xfrm>
            <a:off x="548640" y="5852160"/>
            <a:ext cx="9144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5B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 SmartLife Flexi Enrolment  ·  Enterprise &amp; Growth Department  · 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217920"/>
            <a:ext cx="10515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5D77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S S F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457200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E V E L O P E D   B 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280160" y="914400"/>
            <a:ext cx="1645920" cy="1645920"/>
          </a:xfrm>
          <a:prstGeom prst="ellipse">
            <a:avLst/>
          </a:prstGeom>
          <a:solidFill>
            <a:srgbClr val="2A5686"/>
          </a:solidFill>
        </p:spPr>
      </p:sp>
      <p:sp>
        <p:nvSpPr>
          <p:cNvPr id="5" name="Text 3"/>
          <p:cNvSpPr/>
          <p:nvPr/>
        </p:nvSpPr>
        <p:spPr>
          <a:xfrm>
            <a:off x="1280160" y="914400"/>
            <a:ext cx="164592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SLJ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2743200"/>
            <a:ext cx="3383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Samuel</a:t>
            </a:r>
            <a:endParaRPr lang="en-US" sz="2400" dirty="0"/>
          </a:p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Lyomoki Junior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496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8" name="Text 6"/>
          <p:cNvSpPr/>
          <p:nvPr/>
        </p:nvSpPr>
        <p:spPr>
          <a:xfrm>
            <a:off x="777240" y="37216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Global Leadership &amp; Governance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3068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0" name="Text 8"/>
          <p:cNvSpPr/>
          <p:nvPr/>
        </p:nvSpPr>
        <p:spPr>
          <a:xfrm>
            <a:off x="777240" y="41788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USIU-Africa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640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2" name="Text 10"/>
          <p:cNvSpPr/>
          <p:nvPr/>
        </p:nvSpPr>
        <p:spPr>
          <a:xfrm>
            <a:off x="777240" y="46360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Intern — Enterprise &amp; Growth Dept.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212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4" name="Text 12"/>
          <p:cNvSpPr/>
          <p:nvPr/>
        </p:nvSpPr>
        <p:spPr>
          <a:xfrm>
            <a:off x="777240" y="50932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Summer Internship 2026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0" y="4572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Tool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72000" y="960120"/>
            <a:ext cx="6400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 SmartLife Flexi — ID Capture &amp; Data Extraction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17720" y="1673352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18" name="Text 16"/>
          <p:cNvSpPr/>
          <p:nvPr/>
        </p:nvSpPr>
        <p:spPr>
          <a:xfrm>
            <a:off x="4892040" y="155448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Photograph any Uganda National ID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7720" y="2295144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0" name="Text 18"/>
          <p:cNvSpPr/>
          <p:nvPr/>
        </p:nvSpPr>
        <p:spPr>
          <a:xfrm>
            <a:off x="4892040" y="2176272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NIN, name, DOB &amp; location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17720" y="2916936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2" name="Text 20"/>
          <p:cNvSpPr/>
          <p:nvPr/>
        </p:nvSpPr>
        <p:spPr>
          <a:xfrm>
            <a:off x="4892040" y="2798064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Auto-fills a verification form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17720" y="3538728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4" name="Text 22"/>
          <p:cNvSpPr/>
          <p:nvPr/>
        </p:nvSpPr>
        <p:spPr>
          <a:xfrm>
            <a:off x="4892040" y="3419856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Exports records as .xlsx Excel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17720" y="4160520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6" name="Text 24"/>
          <p:cNvSpPr/>
          <p:nvPr/>
        </p:nvSpPr>
        <p:spPr>
          <a:xfrm>
            <a:off x="4892040" y="4041648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 offline — no internet needed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0" y="489204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0" y="4892040"/>
            <a:ext cx="694944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NSSF A Better Life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5113</Words>
  <Application>WPS Presentation</Application>
  <PresentationFormat>On-screen Show (16:9)</PresentationFormat>
  <Paragraphs>280</Paragraphs>
  <Slides>11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HP</cp:lastModifiedBy>
  <cp:revision>3</cp:revision>
  <dcterms:created xsi:type="dcterms:W3CDTF">2026-07-10T07:45:00Z</dcterms:created>
  <dcterms:modified xsi:type="dcterms:W3CDTF">2026-07-10T08:11:25Z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5A4BA72677F34BBCBF85D597C4592EBC_12</vt:lpwstr>
  </property>
  <property fmtid="{D5CDD505-2E9C-101B-9397-08002B2CF9AE}" pid="3" name="KSOProductBuildVer">
    <vt:lpwstr>1033-12.1.0.26880</vt:lpwstr>
  </property>
</Properties>
</file>