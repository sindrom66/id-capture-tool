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85" r:id="rId6"/>
    <p:sldId id="286" r:id="rId7"/>
    <p:sldId id="258" r:id="rId8"/>
    <p:sldId id="279" r:id="rId9"/>
    <p:sldId id="288" r:id="rId10"/>
    <p:sldId id="280" r:id="rId11"/>
    <p:sldId id="281" r:id="rId12"/>
    <p:sldId id="282" r:id="rId13"/>
    <p:sldId id="283" r:id="rId14"/>
    <p:sldId id="284" r:id="rId15"/>
    <p:sldId id="287" r:id="rId16"/>
    <p:sldId id="289" r:id="rId17"/>
    <p:sldId id="290" r:id="rId18"/>
    <p:sldId id="291" r:id="rId19"/>
    <p:sldId id="292" r:id="rId20"/>
    <p:sldId id="259" r:id="rId21"/>
    <p:sldId id="260" r:id="rId22"/>
    <p:sldId id="261" r:id="rId23"/>
    <p:sldId id="262"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3A63"/>
        </a:solidFill>
        <a:effectLst/>
      </p:bgPr>
    </p:bg>
    <p:spTree>
      <p:nvGrpSpPr>
        <p:cNvPr id="1" name=""/>
        <p:cNvGrpSpPr/>
        <p:nvPr/>
      </p:nvGrpSpPr>
      <p:grpSpPr>
        <a:xfrm>
          <a:off x="0" y="0"/>
          <a:ext cx="0" cy="0"/>
          <a:chOff x="0" y="0"/>
          <a:chExt cx="0" cy="0"/>
        </a:xfrm>
      </p:grpSpPr>
      <p:sp>
        <p:nvSpPr>
          <p:cNvPr id="2" name="Text 0"/>
          <p:cNvSpPr/>
          <p:nvPr/>
        </p:nvSpPr>
        <p:spPr>
          <a:xfrm>
            <a:off x="567055" y="773430"/>
            <a:ext cx="3145155" cy="707390"/>
          </a:xfrm>
          <a:prstGeom prst="rect">
            <a:avLst/>
          </a:prstGeom>
          <a:noFill/>
        </p:spPr>
        <p:txBody>
          <a:bodyPr wrap="square" rtlCol="0" anchor="ctr"/>
          <a:lstStyle/>
          <a:p>
            <a:pPr marL="0" indent="0">
              <a:buNone/>
            </a:pPr>
            <a:r>
              <a:rPr lang="en-US" sz="4400" b="1" kern="0" spc="200" dirty="0">
                <a:solidFill>
                  <a:srgbClr val="E3A93E"/>
                </a:solidFill>
                <a:latin typeface="Calibri" panose="020F0502020204030204" pitchFamily="34" charset="0"/>
                <a:ea typeface="Calibri" panose="020F0502020204030204" pitchFamily="34" charset="-122"/>
                <a:cs typeface="Calibri" panose="020F0502020204030204" pitchFamily="34" charset="-120"/>
              </a:rPr>
              <a:t>NSSF</a:t>
            </a:r>
            <a:endParaRPr lang="en-US" sz="4400" b="1" kern="0" spc="2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p:txBody>
      </p:sp>
      <p:sp>
        <p:nvSpPr>
          <p:cNvPr id="3" name="Text 1"/>
          <p:cNvSpPr/>
          <p:nvPr/>
        </p:nvSpPr>
        <p:spPr>
          <a:xfrm>
            <a:off x="274320" y="1555115"/>
            <a:ext cx="6949440" cy="2103120"/>
          </a:xfrm>
          <a:prstGeom prst="rect">
            <a:avLst/>
          </a:prstGeom>
          <a:noFill/>
        </p:spPr>
        <p:txBody>
          <a:bodyPr wrap="square" rtlCol="0" anchor="ctr"/>
          <a:lstStyle/>
          <a:p>
            <a:pPr marL="0" indent="0">
              <a:lnSpc>
                <a:spcPts val="5000"/>
              </a:lnSpc>
              <a:buNone/>
            </a:pPr>
            <a:r>
              <a:rPr lang="en-US" sz="4800" b="1" dirty="0">
                <a:solidFill>
                  <a:srgbClr val="FFFFFF"/>
                </a:solidFill>
                <a:latin typeface="Cambria" panose="02040503050406030204" pitchFamily="34" charset="0"/>
                <a:ea typeface="Cambria" panose="02040503050406030204" pitchFamily="34" charset="-122"/>
                <a:cs typeface="Cambria" panose="02040503050406030204" pitchFamily="34" charset="-120"/>
              </a:rPr>
              <a:t>SmartLife Flexi</a:t>
            </a:r>
            <a:endParaRPr lang="en-US" sz="4800" dirty="0"/>
          </a:p>
          <a:p>
            <a:pPr marL="0" indent="0">
              <a:lnSpc>
                <a:spcPts val="5000"/>
              </a:lnSpc>
              <a:buNone/>
            </a:pPr>
            <a:r>
              <a:rPr lang="en-US" sz="4800" b="1" dirty="0">
                <a:solidFill>
                  <a:srgbClr val="FFFFFF"/>
                </a:solidFill>
                <a:latin typeface="Cambria" panose="02040503050406030204" pitchFamily="34" charset="0"/>
                <a:ea typeface="Cambria" panose="02040503050406030204" pitchFamily="34" charset="-122"/>
                <a:cs typeface="Cambria" panose="02040503050406030204" pitchFamily="34" charset="-120"/>
              </a:rPr>
              <a:t>ID Capture Tool</a:t>
            </a:r>
            <a:endParaRPr lang="en-US" sz="4800" dirty="0"/>
          </a:p>
        </p:txBody>
      </p:sp>
      <p:sp>
        <p:nvSpPr>
          <p:cNvPr id="4" name="Text 2"/>
          <p:cNvSpPr/>
          <p:nvPr/>
        </p:nvSpPr>
        <p:spPr>
          <a:xfrm>
            <a:off x="548640" y="3886200"/>
            <a:ext cx="6400800" cy="457200"/>
          </a:xfrm>
          <a:prstGeom prst="rect">
            <a:avLst/>
          </a:prstGeom>
          <a:noFill/>
        </p:spPr>
        <p:txBody>
          <a:bodyPr wrap="square" rtlCol="0" anchor="ctr"/>
          <a:lstStyle/>
          <a:p>
            <a:pPr marL="0" indent="0">
              <a:buNone/>
            </a:pPr>
            <a:r>
              <a:rPr lang="en-US" sz="1800" i="1" dirty="0">
                <a:solidFill>
                  <a:srgbClr val="E3A93E"/>
                </a:solidFill>
                <a:latin typeface="Cambria" panose="02040503050406030204" pitchFamily="34" charset="0"/>
                <a:ea typeface="Cambria" panose="02040503050406030204" pitchFamily="34" charset="-122"/>
                <a:cs typeface="Cambria" panose="02040503050406030204" pitchFamily="34" charset="-120"/>
              </a:rPr>
              <a:t>Solving the Field Data Collection Problem</a:t>
            </a:r>
            <a:endParaRPr lang="en-US" sz="1800" dirty="0"/>
          </a:p>
        </p:txBody>
      </p:sp>
      <p:sp>
        <p:nvSpPr>
          <p:cNvPr id="5" name="Shape 3"/>
          <p:cNvSpPr/>
          <p:nvPr/>
        </p:nvSpPr>
        <p:spPr>
          <a:xfrm>
            <a:off x="566928" y="4434840"/>
            <a:ext cx="1554480" cy="45720"/>
          </a:xfrm>
          <a:prstGeom prst="rect">
            <a:avLst/>
          </a:prstGeom>
          <a:solidFill>
            <a:srgbClr val="E3A93E"/>
          </a:solidFill>
        </p:spPr>
      </p:sp>
      <p:sp>
        <p:nvSpPr>
          <p:cNvPr id="6" name="Text 4"/>
          <p:cNvSpPr/>
          <p:nvPr/>
        </p:nvSpPr>
        <p:spPr>
          <a:xfrm>
            <a:off x="548640" y="4709160"/>
            <a:ext cx="5486400" cy="365760"/>
          </a:xfrm>
          <a:prstGeom prst="rect">
            <a:avLst/>
          </a:prstGeom>
          <a:noFill/>
        </p:spPr>
        <p:txBody>
          <a:bodyPr wrap="square" rtlCol="0" anchor="ctr"/>
          <a:lstStyle/>
          <a:p>
            <a:pPr marL="0" indent="0">
              <a:buNone/>
            </a:pPr>
            <a:r>
              <a:rPr lang="en-US" sz="1300" dirty="0">
                <a:solidFill>
                  <a:srgbClr val="C7D3E0"/>
                </a:solidFill>
                <a:latin typeface="Calibri" panose="020F0502020204030204" pitchFamily="34" charset="0"/>
                <a:ea typeface="Calibri" panose="020F0502020204030204" pitchFamily="34" charset="-122"/>
                <a:cs typeface="Calibri" panose="020F0502020204030204" pitchFamily="34" charset="-120"/>
              </a:rPr>
              <a:t>Enterprise &amp; Growth Department  ·  June 2026</a:t>
            </a:r>
            <a:endParaRPr lang="en-US" sz="1300" dirty="0"/>
          </a:p>
        </p:txBody>
      </p:sp>
      <p:pic>
        <p:nvPicPr>
          <p:cNvPr id="38" name="Picture 37"/>
          <p:cNvPicPr>
            <a:picLocks noChangeAspect="1"/>
          </p:cNvPicPr>
          <p:nvPr/>
        </p:nvPicPr>
        <p:blipFill>
          <a:blip r:embed="rId1"/>
          <a:stretch>
            <a:fillRect/>
          </a:stretch>
        </p:blipFill>
        <p:spPr>
          <a:xfrm>
            <a:off x="6220460" y="0"/>
            <a:ext cx="3048000" cy="6675120"/>
          </a:xfrm>
          <a:prstGeom prst="rect">
            <a:avLst/>
          </a:prstGeom>
        </p:spPr>
      </p:pic>
      <p:sp>
        <p:nvSpPr>
          <p:cNvPr id="39" name="Shape 4"/>
          <p:cNvSpPr/>
          <p:nvPr/>
        </p:nvSpPr>
        <p:spPr>
          <a:xfrm>
            <a:off x="10180955" y="4044315"/>
            <a:ext cx="1735455" cy="1716405"/>
          </a:xfrm>
          <a:prstGeom prst="roundRect">
            <a:avLst>
              <a:gd name="adj" fmla="val 15652"/>
            </a:avLst>
          </a:prstGeom>
          <a:solidFill>
            <a:srgbClr val="C8952A"/>
          </a:solidFill>
        </p:spPr>
      </p:sp>
      <p:pic>
        <p:nvPicPr>
          <p:cNvPr id="40" name="Image 0" descr="/home/claude/deck/icons/camera.png"/>
          <p:cNvPicPr>
            <a:picLocks noChangeAspect="1"/>
          </p:cNvPicPr>
          <p:nvPr/>
        </p:nvPicPr>
        <p:blipFill>
          <a:blip r:embed="rId2"/>
          <a:stretch>
            <a:fillRect/>
          </a:stretch>
        </p:blipFill>
        <p:spPr>
          <a:xfrm>
            <a:off x="10595610" y="4434840"/>
            <a:ext cx="905510" cy="9055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0E3A63"/>
          </a:solidFill>
        </p:spPr>
      </p:sp>
      <p:sp>
        <p:nvSpPr>
          <p:cNvPr id="3" name="Text 1"/>
          <p:cNvSpPr/>
          <p:nvPr/>
        </p:nvSpPr>
        <p:spPr>
          <a:xfrm>
            <a:off x="548640" y="502920"/>
            <a:ext cx="5486400" cy="365760"/>
          </a:xfrm>
          <a:prstGeom prst="rect">
            <a:avLst/>
          </a:prstGeom>
          <a:noFill/>
        </p:spPr>
        <p:txBody>
          <a:bodyPr wrap="square" rtlCol="0" anchor="ctr"/>
          <a:lstStyle/>
          <a:p>
            <a:pPr marL="0" indent="0">
              <a:buNone/>
            </a:pPr>
            <a:r>
              <a:rPr lang="en-US" sz="3200" b="1"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rPr>
              <a:t>THE   PROBLEM</a:t>
            </a:r>
            <a:endParaRPr lang="en-US" sz="3200" b="1"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48640" y="1691640"/>
            <a:ext cx="9601200" cy="1280160"/>
          </a:xfrm>
          <a:prstGeom prst="rect">
            <a:avLst/>
          </a:prstGeom>
          <a:noFill/>
        </p:spPr>
        <p:txBody>
          <a:bodyPr wrap="square" rtlCol="0" anchor="ctr"/>
          <a:lstStyle/>
          <a:p>
            <a:pPr marL="0" indent="0">
              <a:lnSpc>
                <a:spcPts val="3600"/>
              </a:lnSpc>
              <a:buNone/>
            </a:pPr>
            <a:r>
              <a:rPr lang="en-US" sz="3000" b="1" dirty="0">
                <a:solidFill>
                  <a:srgbClr val="1B2A41"/>
                </a:solidFill>
                <a:latin typeface="Cambria" panose="02040503050406030204" pitchFamily="34" charset="0"/>
                <a:ea typeface="Cambria" panose="02040503050406030204" pitchFamily="34" charset="-122"/>
                <a:cs typeface="Cambria" panose="02040503050406030204" pitchFamily="34" charset="-120"/>
              </a:rPr>
              <a:t>Field data collection is</a:t>
            </a:r>
            <a:endParaRPr lang="en-US" sz="3000" dirty="0"/>
          </a:p>
          <a:p>
            <a:pPr marL="0" indent="0">
              <a:lnSpc>
                <a:spcPts val="3600"/>
              </a:lnSpc>
              <a:buNone/>
            </a:pPr>
            <a:r>
              <a:rPr lang="en-US" sz="3000" b="1" dirty="0">
                <a:solidFill>
                  <a:srgbClr val="1B2A41"/>
                </a:solidFill>
                <a:latin typeface="Cambria" panose="02040503050406030204" pitchFamily="34" charset="0"/>
                <a:ea typeface="Cambria" panose="02040503050406030204" pitchFamily="34" charset="-122"/>
                <a:cs typeface="Cambria" panose="02040503050406030204" pitchFamily="34" charset="-120"/>
              </a:rPr>
              <a:t>breaking the enrolment process.</a:t>
            </a:r>
            <a:endParaRPr lang="en-US" sz="3000" dirty="0"/>
          </a:p>
        </p:txBody>
      </p:sp>
      <p:sp>
        <p:nvSpPr>
          <p:cNvPr id="5" name="Shape 3"/>
          <p:cNvSpPr/>
          <p:nvPr/>
        </p:nvSpPr>
        <p:spPr>
          <a:xfrm>
            <a:off x="548640" y="3246120"/>
            <a:ext cx="3429000" cy="2743200"/>
          </a:xfrm>
          <a:prstGeom prst="roundRect">
            <a:avLst>
              <a:gd name="adj" fmla="val 2667"/>
            </a:avLst>
          </a:prstGeom>
          <a:solidFill>
            <a:srgbClr val="FFFFFF"/>
          </a:solidFill>
          <a:effectLst>
            <a:outerShdw blurRad="101600" dist="38100" dir="5400000" algn="bl" rotWithShape="0">
              <a:srgbClr val="1B2A41">
                <a:alpha val="15000"/>
              </a:srgbClr>
            </a:outerShdw>
          </a:effectLst>
        </p:spPr>
      </p:sp>
      <p:sp>
        <p:nvSpPr>
          <p:cNvPr id="6" name="Shape 4"/>
          <p:cNvSpPr/>
          <p:nvPr/>
        </p:nvSpPr>
        <p:spPr>
          <a:xfrm>
            <a:off x="822960" y="3520440"/>
            <a:ext cx="594360" cy="594360"/>
          </a:xfrm>
          <a:prstGeom prst="ellipse">
            <a:avLst/>
          </a:prstGeom>
          <a:solidFill>
            <a:srgbClr val="C1622D"/>
          </a:solidFill>
        </p:spPr>
      </p:sp>
      <p:sp>
        <p:nvSpPr>
          <p:cNvPr id="7" name="Text 5"/>
          <p:cNvSpPr/>
          <p:nvPr/>
        </p:nvSpPr>
        <p:spPr>
          <a:xfrm>
            <a:off x="822960" y="3520440"/>
            <a:ext cx="594360" cy="59436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8" name="Text 6"/>
          <p:cNvSpPr/>
          <p:nvPr/>
        </p:nvSpPr>
        <p:spPr>
          <a:xfrm>
            <a:off x="1554480" y="3657600"/>
            <a:ext cx="2880360" cy="365760"/>
          </a:xfrm>
          <a:prstGeom prst="rect">
            <a:avLst/>
          </a:prstGeom>
          <a:noFill/>
        </p:spPr>
        <p:txBody>
          <a:bodyPr wrap="square" lIns="0" tIns="0" rIns="0" bIns="0" rtlCol="0" anchor="ctr"/>
          <a:lstStyle/>
          <a:p>
            <a:pPr marL="0" indent="0">
              <a:buNone/>
            </a:pPr>
            <a:r>
              <a:rPr lang="en-US" b="1" dirty="0">
                <a:solidFill>
                  <a:srgbClr val="1B2A41"/>
                </a:solidFill>
                <a:latin typeface="Cambria" panose="02040503050406030204" pitchFamily="34" charset="0"/>
                <a:ea typeface="Cambria" panose="02040503050406030204" pitchFamily="34" charset="-122"/>
                <a:cs typeface="Cambria" panose="02040503050406030204" pitchFamily="34" charset="-120"/>
              </a:rPr>
              <a:t>Handwriting Errors</a:t>
            </a:r>
            <a:endParaRPr lang="en-US" dirty="0"/>
          </a:p>
        </p:txBody>
      </p:sp>
      <p:sp>
        <p:nvSpPr>
          <p:cNvPr id="9" name="Text 7"/>
          <p:cNvSpPr/>
          <p:nvPr/>
        </p:nvSpPr>
        <p:spPr>
          <a:xfrm>
            <a:off x="822960" y="4347845"/>
            <a:ext cx="2880360" cy="1143000"/>
          </a:xfrm>
          <a:prstGeom prst="rect">
            <a:avLst/>
          </a:prstGeom>
          <a:noFill/>
        </p:spPr>
        <p:txBody>
          <a:bodyPr wrap="square" lIns="0" tIns="0" rIns="0" bIns="0" rtlCol="0" anchor="ctr"/>
          <a:lstStyle/>
          <a:p>
            <a:pPr marL="0" indent="0">
              <a:lnSpc>
                <a:spcPts val="1500"/>
              </a:lnSpc>
              <a:buNone/>
            </a:pPr>
            <a:r>
              <a:rPr lang="en-US" sz="1600" dirty="0">
                <a:solidFill>
                  <a:srgbClr val="5B6472"/>
                </a:solidFill>
                <a:latin typeface="Calibri" panose="020F0502020204030204" pitchFamily="34" charset="0"/>
                <a:ea typeface="Calibri" panose="020F0502020204030204" pitchFamily="34" charset="-122"/>
                <a:cs typeface="Calibri" panose="020F0502020204030204" pitchFamily="34" charset="-120"/>
              </a:rPr>
              <a:t>NINs, names and dates copied manually from IDs — leading to frequent transcription mistakes and invalid records.</a:t>
            </a:r>
            <a:endParaRPr lang="en-US" sz="1600" dirty="0"/>
          </a:p>
        </p:txBody>
      </p:sp>
      <p:sp>
        <p:nvSpPr>
          <p:cNvPr id="10" name="Shape 8"/>
          <p:cNvSpPr/>
          <p:nvPr/>
        </p:nvSpPr>
        <p:spPr>
          <a:xfrm>
            <a:off x="4297680" y="3246120"/>
            <a:ext cx="3429000" cy="2743200"/>
          </a:xfrm>
          <a:prstGeom prst="roundRect">
            <a:avLst>
              <a:gd name="adj" fmla="val 2667"/>
            </a:avLst>
          </a:prstGeom>
          <a:solidFill>
            <a:srgbClr val="FFFFFF"/>
          </a:solidFill>
          <a:effectLst>
            <a:outerShdw blurRad="101600" dist="38100" dir="5400000" algn="bl" rotWithShape="0">
              <a:srgbClr val="1B2A41">
                <a:alpha val="15000"/>
              </a:srgbClr>
            </a:outerShdw>
          </a:effectLst>
        </p:spPr>
      </p:sp>
      <p:sp>
        <p:nvSpPr>
          <p:cNvPr id="11" name="Shape 9"/>
          <p:cNvSpPr/>
          <p:nvPr/>
        </p:nvSpPr>
        <p:spPr>
          <a:xfrm>
            <a:off x="4572000" y="3520440"/>
            <a:ext cx="594360" cy="594360"/>
          </a:xfrm>
          <a:prstGeom prst="ellipse">
            <a:avLst/>
          </a:prstGeom>
          <a:solidFill>
            <a:srgbClr val="0E3A63"/>
          </a:solidFill>
        </p:spPr>
      </p:sp>
      <p:sp>
        <p:nvSpPr>
          <p:cNvPr id="12" name="Text 10"/>
          <p:cNvSpPr/>
          <p:nvPr/>
        </p:nvSpPr>
        <p:spPr>
          <a:xfrm>
            <a:off x="4572000" y="3520440"/>
            <a:ext cx="594360" cy="59436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3" name="Text 11"/>
          <p:cNvSpPr/>
          <p:nvPr/>
        </p:nvSpPr>
        <p:spPr>
          <a:xfrm>
            <a:off x="5303520" y="3657600"/>
            <a:ext cx="2880360" cy="365760"/>
          </a:xfrm>
          <a:prstGeom prst="rect">
            <a:avLst/>
          </a:prstGeom>
          <a:noFill/>
        </p:spPr>
        <p:txBody>
          <a:bodyPr wrap="square" lIns="0" tIns="0" rIns="0" bIns="0" rtlCol="0" anchor="ctr"/>
          <a:lstStyle/>
          <a:p>
            <a:pPr marL="0" indent="0">
              <a:buNone/>
            </a:pPr>
            <a:r>
              <a:rPr lang="en-US" b="1" dirty="0">
                <a:solidFill>
                  <a:srgbClr val="1B2A41"/>
                </a:solidFill>
                <a:latin typeface="Cambria" panose="02040503050406030204" pitchFamily="34" charset="0"/>
                <a:ea typeface="Cambria" panose="02040503050406030204" pitchFamily="34" charset="-122"/>
                <a:cs typeface="Cambria" panose="02040503050406030204" pitchFamily="34" charset="-120"/>
              </a:rPr>
              <a:t>Slow Processing</a:t>
            </a:r>
            <a:endParaRPr lang="en-US" dirty="0"/>
          </a:p>
        </p:txBody>
      </p:sp>
      <p:sp>
        <p:nvSpPr>
          <p:cNvPr id="14" name="Text 12"/>
          <p:cNvSpPr/>
          <p:nvPr/>
        </p:nvSpPr>
        <p:spPr>
          <a:xfrm>
            <a:off x="4572000" y="4347845"/>
            <a:ext cx="2880360" cy="1143000"/>
          </a:xfrm>
          <a:prstGeom prst="rect">
            <a:avLst/>
          </a:prstGeom>
          <a:noFill/>
        </p:spPr>
        <p:txBody>
          <a:bodyPr wrap="square" lIns="0" tIns="0" rIns="0" bIns="0" rtlCol="0" anchor="ctr"/>
          <a:lstStyle/>
          <a:p>
            <a:pPr marL="0" indent="0">
              <a:lnSpc>
                <a:spcPts val="1500"/>
              </a:lnSpc>
              <a:buNone/>
            </a:pPr>
            <a:r>
              <a:rPr lang="en-US" sz="1600" dirty="0">
                <a:solidFill>
                  <a:srgbClr val="5B6472"/>
                </a:solidFill>
                <a:latin typeface="Calibri" panose="020F0502020204030204" pitchFamily="34" charset="0"/>
                <a:ea typeface="Calibri" panose="020F0502020204030204" pitchFamily="34" charset="-122"/>
                <a:cs typeface="Calibri" panose="020F0502020204030204" pitchFamily="34" charset="-120"/>
              </a:rPr>
              <a:t>Each member requires a full manual form. High volumes during drives means delays, queues and staff fatigue.</a:t>
            </a:r>
            <a:endParaRPr lang="en-US" sz="1600" dirty="0"/>
          </a:p>
        </p:txBody>
      </p:sp>
      <p:sp>
        <p:nvSpPr>
          <p:cNvPr id="15" name="Shape 13"/>
          <p:cNvSpPr/>
          <p:nvPr/>
        </p:nvSpPr>
        <p:spPr>
          <a:xfrm>
            <a:off x="8046720" y="3246120"/>
            <a:ext cx="3429000" cy="2743200"/>
          </a:xfrm>
          <a:prstGeom prst="roundRect">
            <a:avLst>
              <a:gd name="adj" fmla="val 2667"/>
            </a:avLst>
          </a:prstGeom>
          <a:solidFill>
            <a:srgbClr val="FFFFFF"/>
          </a:solidFill>
          <a:effectLst>
            <a:outerShdw blurRad="101600" dist="38100" dir="5400000" algn="bl" rotWithShape="0">
              <a:srgbClr val="1B2A41">
                <a:alpha val="15000"/>
              </a:srgbClr>
            </a:outerShdw>
          </a:effectLst>
        </p:spPr>
      </p:sp>
      <p:sp>
        <p:nvSpPr>
          <p:cNvPr id="16" name="Shape 14"/>
          <p:cNvSpPr/>
          <p:nvPr/>
        </p:nvSpPr>
        <p:spPr>
          <a:xfrm>
            <a:off x="8321040" y="3520440"/>
            <a:ext cx="594360" cy="594360"/>
          </a:xfrm>
          <a:prstGeom prst="ellipse">
            <a:avLst/>
          </a:prstGeom>
          <a:solidFill>
            <a:srgbClr val="2E8B57"/>
          </a:solidFill>
        </p:spPr>
      </p:sp>
      <p:sp>
        <p:nvSpPr>
          <p:cNvPr id="17" name="Text 15"/>
          <p:cNvSpPr/>
          <p:nvPr/>
        </p:nvSpPr>
        <p:spPr>
          <a:xfrm>
            <a:off x="8321040" y="3520440"/>
            <a:ext cx="594360" cy="594360"/>
          </a:xfrm>
          <a:prstGeom prst="rect">
            <a:avLst/>
          </a:prstGeom>
          <a:noFill/>
        </p:spPr>
        <p:txBody>
          <a:bodyPr wrap="square" lIns="0" tIns="0" rIns="0" bIns="0"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8" name="Text 16"/>
          <p:cNvSpPr/>
          <p:nvPr/>
        </p:nvSpPr>
        <p:spPr>
          <a:xfrm>
            <a:off x="9052560" y="3657600"/>
            <a:ext cx="2880360" cy="365760"/>
          </a:xfrm>
          <a:prstGeom prst="rect">
            <a:avLst/>
          </a:prstGeom>
          <a:noFill/>
        </p:spPr>
        <p:txBody>
          <a:bodyPr wrap="square" lIns="0" tIns="0" rIns="0" bIns="0" rtlCol="0" anchor="ctr"/>
          <a:lstStyle/>
          <a:p>
            <a:pPr marL="0" indent="0">
              <a:buNone/>
            </a:pPr>
            <a:r>
              <a:rPr lang="en-US" b="1" dirty="0">
                <a:solidFill>
                  <a:srgbClr val="1B2A41"/>
                </a:solidFill>
                <a:latin typeface="Cambria" panose="02040503050406030204" pitchFamily="34" charset="0"/>
                <a:ea typeface="Cambria" panose="02040503050406030204" pitchFamily="34" charset="-122"/>
                <a:cs typeface="Cambria" panose="02040503050406030204" pitchFamily="34" charset="-120"/>
              </a:rPr>
              <a:t>Data Quality Issues</a:t>
            </a:r>
            <a:endParaRPr lang="en-US" dirty="0"/>
          </a:p>
        </p:txBody>
      </p:sp>
      <p:sp>
        <p:nvSpPr>
          <p:cNvPr id="19" name="Text 17"/>
          <p:cNvSpPr/>
          <p:nvPr/>
        </p:nvSpPr>
        <p:spPr>
          <a:xfrm>
            <a:off x="8321040" y="4347845"/>
            <a:ext cx="2880360" cy="1143000"/>
          </a:xfrm>
          <a:prstGeom prst="rect">
            <a:avLst/>
          </a:prstGeom>
          <a:noFill/>
        </p:spPr>
        <p:txBody>
          <a:bodyPr wrap="square" lIns="0" tIns="0" rIns="0" bIns="0" rtlCol="0" anchor="ctr"/>
          <a:lstStyle/>
          <a:p>
            <a:pPr marL="0" indent="0">
              <a:lnSpc>
                <a:spcPts val="1500"/>
              </a:lnSpc>
              <a:buNone/>
            </a:pPr>
            <a:r>
              <a:rPr lang="en-US" sz="1600" dirty="0">
                <a:solidFill>
                  <a:srgbClr val="5B6472"/>
                </a:solidFill>
                <a:latin typeface="Calibri" panose="020F0502020204030204" pitchFamily="34" charset="0"/>
                <a:ea typeface="Calibri" panose="020F0502020204030204" pitchFamily="34" charset="-122"/>
                <a:cs typeface="Calibri" panose="020F0502020204030204" pitchFamily="34" charset="-120"/>
              </a:rPr>
              <a:t>Inconsistent formatting, missing fields and illegible entries when capturing data will in the field requiring costly re-verification before onboarding.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6002020" cy="6858635"/>
          </a:xfrm>
          <a:prstGeom prst="rect">
            <a:avLst/>
          </a:prstGeom>
          <a:solidFill>
            <a:srgbClr val="0E3A63"/>
          </a:solidFill>
        </p:spPr>
      </p:sp>
      <p:sp>
        <p:nvSpPr>
          <p:cNvPr id="3" name="Text 1"/>
          <p:cNvSpPr/>
          <p:nvPr/>
        </p:nvSpPr>
        <p:spPr>
          <a:xfrm>
            <a:off x="-754380" y="305435"/>
            <a:ext cx="5486400" cy="365760"/>
          </a:xfrm>
          <a:prstGeom prst="rect">
            <a:avLst/>
          </a:prstGeom>
          <a:noFill/>
        </p:spPr>
        <p:txBody>
          <a:bodyPr wrap="square" rtlCol="0" anchor="ctr"/>
          <a:lstStyle/>
          <a:p>
            <a:pPr marL="0" indent="0">
              <a:buNone/>
            </a:pPr>
            <a:endParaRPr lang="en-US" altLang="en-US" sz="3200" b="1"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altLang="en-US" sz="40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rPr>
              <a:t>THE SOLUTION</a:t>
            </a:r>
            <a:endParaRPr lang="en-US" altLang="en-US" sz="40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endParaRPr lang="en-US" altLang="en-US" sz="40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4"/>
          <p:cNvSpPr/>
          <p:nvPr/>
        </p:nvSpPr>
        <p:spPr>
          <a:xfrm>
            <a:off x="6224905" y="132715"/>
            <a:ext cx="5848350" cy="822960"/>
          </a:xfrm>
          <a:prstGeom prst="rect">
            <a:avLst/>
          </a:prstGeom>
          <a:noFill/>
        </p:spPr>
        <p:txBody>
          <a:bodyPr wrap="square" rtlCol="0" anchor="ctr"/>
          <a:lstStyle/>
          <a:p>
            <a:pPr marL="0" indent="0">
              <a:lnSpc>
                <a:spcPts val="2400"/>
              </a:lnSpc>
              <a:buNone/>
            </a:pPr>
            <a:r>
              <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rPr>
              <a:t>Photo-to-Data Automation</a:t>
            </a:r>
            <a:endPar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endParaRPr>
          </a:p>
        </p:txBody>
      </p:sp>
      <p:pic>
        <p:nvPicPr>
          <p:cNvPr id="23" name="Picture 22"/>
          <p:cNvPicPr>
            <a:picLocks noChangeAspect="1"/>
          </p:cNvPicPr>
          <p:nvPr/>
        </p:nvPicPr>
        <p:blipFill>
          <a:blip r:embed="rId1"/>
          <a:stretch>
            <a:fillRect/>
          </a:stretch>
        </p:blipFill>
        <p:spPr>
          <a:xfrm>
            <a:off x="3921760" y="635"/>
            <a:ext cx="8047990" cy="6858000"/>
          </a:xfrm>
          <a:prstGeom prst="rect">
            <a:avLst/>
          </a:prstGeom>
        </p:spPr>
      </p:pic>
      <p:sp>
        <p:nvSpPr>
          <p:cNvPr id="24" name="Text Box 23"/>
          <p:cNvSpPr txBox="1"/>
          <p:nvPr/>
        </p:nvSpPr>
        <p:spPr>
          <a:xfrm>
            <a:off x="133985" y="956310"/>
            <a:ext cx="3590925" cy="5612765"/>
          </a:xfrm>
          <a:prstGeom prst="rect">
            <a:avLst/>
          </a:prstGeom>
        </p:spPr>
        <p:txBody>
          <a:bodyPr>
            <a:noAutofit/>
            <a:extLst>
              <a:ext uri="{4A0BC546-FE56-4ADE-93B0-CB8AF2F6F144}">
                <wpsdc:textFrameExt xmlns:wpsdc="http://www.wps.cn/officeDocument/2022/drawingmlCustomData" type="text"/>
              </a:ext>
            </a:extLst>
          </a:bodyPr>
          <a:p>
            <a:pPr algn="l"/>
            <a:r>
              <a:rPr lang="en-US" sz="1800">
                <a:solidFill>
                  <a:schemeClr val="bg1"/>
                </a:solidFill>
                <a:latin typeface="Arial" panose="020B0604020202020204" pitchFamily="34" charset="0"/>
                <a:ea typeface="Microsoft YaHei" panose="020B0503020204020204" charset="-122"/>
              </a:rPr>
              <a:t>A tool that extracts </a:t>
            </a:r>
            <a:r>
              <a:rPr lang="en-US" altLang="en-US" sz="1800">
                <a:solidFill>
                  <a:schemeClr val="bg1"/>
                </a:solidFill>
                <a:latin typeface="Arial" panose="020B0604020202020204" pitchFamily="34" charset="0"/>
                <a:ea typeface="Microsoft YaHei" panose="020B0503020204020204" charset="-122"/>
              </a:rPr>
              <a:t>extracts pre-registration memeber data for inidviduals wishing to join NSSF and its products i.e smart life flexi. The data includes name, NIN, sex, date of birth, nationality and phone number through Scanning an ID or Entering the data manually. This data is then converted to an excell file which which can be used to easily register new memebrs or for bulk registraiton in cases with a high number of members looking to be regsitered.</a:t>
            </a:r>
            <a:endParaRPr lang="en-US" altLang="en-US" sz="1800">
              <a:solidFill>
                <a:schemeClr val="bg1"/>
              </a:solidFill>
              <a:latin typeface="Arial" panose="020B0604020202020204" pitchFamily="34" charset="0"/>
              <a:ea typeface="Microsoft YaHei"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5610860" cy="6858635"/>
          </a:xfrm>
          <a:prstGeom prst="rect">
            <a:avLst/>
          </a:prstGeom>
          <a:solidFill>
            <a:srgbClr val="0E3A63"/>
          </a:solidFill>
        </p:spPr>
      </p:sp>
      <p:sp>
        <p:nvSpPr>
          <p:cNvPr id="3" name="Text 1"/>
          <p:cNvSpPr/>
          <p:nvPr/>
        </p:nvSpPr>
        <p:spPr>
          <a:xfrm>
            <a:off x="147955" y="305435"/>
            <a:ext cx="5486400" cy="365760"/>
          </a:xfrm>
          <a:prstGeom prst="rect">
            <a:avLst/>
          </a:prstGeom>
          <a:noFill/>
        </p:spPr>
        <p:txBody>
          <a:bodyPr wrap="square" rtlCol="0" anchor="ctr"/>
          <a:lstStyle/>
          <a:p>
            <a:pPr marL="0" indent="0" algn="ctr">
              <a:buNone/>
            </a:pPr>
            <a:endParaRPr lang="en-US" altLang="en-US" sz="32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altLang="en-US" sz="32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rPr>
              <a:t>SCAN ID OPTION </a:t>
            </a:r>
            <a:endParaRPr lang="en-US" altLang="en-US" sz="32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endParaRPr lang="en-US" altLang="en-US" sz="32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p:txBody>
      </p:sp>
      <p:pic>
        <p:nvPicPr>
          <p:cNvPr id="20" name="Picture 19"/>
          <p:cNvPicPr>
            <a:picLocks noChangeAspect="1"/>
          </p:cNvPicPr>
          <p:nvPr/>
        </p:nvPicPr>
        <p:blipFill>
          <a:blip r:embed="rId1"/>
          <a:stretch>
            <a:fillRect/>
          </a:stretch>
        </p:blipFill>
        <p:spPr>
          <a:xfrm>
            <a:off x="725170" y="828040"/>
            <a:ext cx="4332605" cy="5749925"/>
          </a:xfrm>
          <a:prstGeom prst="rect">
            <a:avLst/>
          </a:prstGeom>
        </p:spPr>
      </p:pic>
      <p:sp>
        <p:nvSpPr>
          <p:cNvPr id="22" name="Text 4"/>
          <p:cNvSpPr/>
          <p:nvPr/>
        </p:nvSpPr>
        <p:spPr>
          <a:xfrm>
            <a:off x="6224905" y="132715"/>
            <a:ext cx="5848350" cy="822960"/>
          </a:xfrm>
          <a:prstGeom prst="rect">
            <a:avLst/>
          </a:prstGeom>
          <a:noFill/>
        </p:spPr>
        <p:txBody>
          <a:bodyPr wrap="square" rtlCol="0" anchor="ctr"/>
          <a:lstStyle/>
          <a:p>
            <a:pPr marL="0" indent="0">
              <a:lnSpc>
                <a:spcPts val="2400"/>
              </a:lnSpc>
              <a:buNone/>
            </a:pPr>
            <a:endPar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endParaRPr>
          </a:p>
        </p:txBody>
      </p:sp>
      <p:sp>
        <p:nvSpPr>
          <p:cNvPr id="8" name="Text 6"/>
          <p:cNvSpPr/>
          <p:nvPr/>
        </p:nvSpPr>
        <p:spPr>
          <a:xfrm>
            <a:off x="5752465" y="955675"/>
            <a:ext cx="5486400" cy="457200"/>
          </a:xfrm>
          <a:prstGeom prst="rect">
            <a:avLst/>
          </a:prstGeom>
          <a:noFill/>
        </p:spPr>
        <p:txBody>
          <a:bodyPr wrap="square" rtlCol="0" anchor="ctr"/>
          <a:lstStyle/>
          <a:p>
            <a:pPr marL="0" indent="0">
              <a:buNone/>
            </a:pPr>
            <a:r>
              <a:rPr 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rPr>
              <a:t>How It Works</a:t>
            </a:r>
            <a:endPar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endParaRPr>
          </a:p>
        </p:txBody>
      </p:sp>
      <p:sp>
        <p:nvSpPr>
          <p:cNvPr id="9" name="Shape 7"/>
          <p:cNvSpPr/>
          <p:nvPr/>
        </p:nvSpPr>
        <p:spPr>
          <a:xfrm>
            <a:off x="5752465" y="1778635"/>
            <a:ext cx="502920" cy="502920"/>
          </a:xfrm>
          <a:prstGeom prst="ellipse">
            <a:avLst/>
          </a:prstGeom>
          <a:solidFill>
            <a:srgbClr val="0E3A63"/>
          </a:solidFill>
        </p:spPr>
      </p:sp>
      <p:sp>
        <p:nvSpPr>
          <p:cNvPr id="10" name="Text 8"/>
          <p:cNvSpPr/>
          <p:nvPr/>
        </p:nvSpPr>
        <p:spPr>
          <a:xfrm>
            <a:off x="5752465" y="1778635"/>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11" name="Text 9"/>
          <p:cNvSpPr/>
          <p:nvPr/>
        </p:nvSpPr>
        <p:spPr>
          <a:xfrm>
            <a:off x="6438265" y="1732915"/>
            <a:ext cx="6217920" cy="320040"/>
          </a:xfrm>
          <a:prstGeom prst="rect">
            <a:avLst/>
          </a:prstGeom>
          <a:noFill/>
        </p:spPr>
        <p:txBody>
          <a:bodyPr wrap="square" lIns="0" tIns="0" rIns="0" bIns="0" rtlCol="0" anchor="ctr"/>
          <a:lstStyle/>
          <a:p>
            <a:pPr marL="0" indent="0">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Staff photographs the ID</a:t>
            </a:r>
            <a:endParaRPr lang="en-US" sz="1500" dirty="0"/>
          </a:p>
        </p:txBody>
      </p:sp>
      <p:sp>
        <p:nvSpPr>
          <p:cNvPr id="12" name="Text 10"/>
          <p:cNvSpPr/>
          <p:nvPr/>
        </p:nvSpPr>
        <p:spPr>
          <a:xfrm>
            <a:off x="6438265" y="2071243"/>
            <a:ext cx="6309360" cy="548640"/>
          </a:xfrm>
          <a:prstGeom prst="rect">
            <a:avLst/>
          </a:prstGeom>
          <a:noFill/>
        </p:spPr>
        <p:txBody>
          <a:bodyPr wrap="square" lIns="0" tIns="0" rIns="0" bIns="0" rtlCol="0" anchor="ctr"/>
          <a:lstStyle/>
          <a:p>
            <a:pPr marL="0" indent="0">
              <a:lnSpc>
                <a:spcPts val="15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Upload front and back of the member's National ID directly from a phone or laptop camera.</a:t>
            </a:r>
            <a:endParaRPr lang="en-US" sz="1200" dirty="0"/>
          </a:p>
        </p:txBody>
      </p:sp>
      <p:sp>
        <p:nvSpPr>
          <p:cNvPr id="13" name="Shape 11"/>
          <p:cNvSpPr/>
          <p:nvPr/>
        </p:nvSpPr>
        <p:spPr>
          <a:xfrm>
            <a:off x="5752465" y="3013075"/>
            <a:ext cx="502920" cy="502920"/>
          </a:xfrm>
          <a:prstGeom prst="ellipse">
            <a:avLst/>
          </a:prstGeom>
          <a:solidFill>
            <a:srgbClr val="0E3A63"/>
          </a:solidFill>
        </p:spPr>
      </p:sp>
      <p:sp>
        <p:nvSpPr>
          <p:cNvPr id="14" name="Text 12"/>
          <p:cNvSpPr/>
          <p:nvPr/>
        </p:nvSpPr>
        <p:spPr>
          <a:xfrm>
            <a:off x="5752465" y="3013075"/>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5" name="Text 13"/>
          <p:cNvSpPr/>
          <p:nvPr/>
        </p:nvSpPr>
        <p:spPr>
          <a:xfrm>
            <a:off x="6438265" y="2967355"/>
            <a:ext cx="6217920" cy="320040"/>
          </a:xfrm>
          <a:prstGeom prst="rect">
            <a:avLst/>
          </a:prstGeom>
          <a:noFill/>
        </p:spPr>
        <p:txBody>
          <a:bodyPr wrap="square" lIns="0" tIns="0" rIns="0" bIns="0" rtlCol="0" anchor="ctr"/>
          <a:lstStyle/>
          <a:p>
            <a:pPr marL="0" indent="0">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OCR reads the card</a:t>
            </a:r>
            <a:endParaRPr lang="en-US" sz="1500" dirty="0"/>
          </a:p>
        </p:txBody>
      </p:sp>
      <p:sp>
        <p:nvSpPr>
          <p:cNvPr id="16" name="Text 14"/>
          <p:cNvSpPr/>
          <p:nvPr/>
        </p:nvSpPr>
        <p:spPr>
          <a:xfrm>
            <a:off x="6438265" y="3305683"/>
            <a:ext cx="6309360" cy="548640"/>
          </a:xfrm>
          <a:prstGeom prst="rect">
            <a:avLst/>
          </a:prstGeom>
          <a:noFill/>
        </p:spPr>
        <p:txBody>
          <a:bodyPr wrap="square" lIns="0" tIns="0" rIns="0" bIns="0" rtlCol="0" anchor="ctr"/>
          <a:lstStyle/>
          <a:p>
            <a:pPr marL="0" indent="0">
              <a:lnSpc>
                <a:spcPts val="15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The tool extracts name, NIN, date of birth, expiry, village and district automatically.</a:t>
            </a:r>
            <a:endParaRPr lang="en-US" sz="1200" dirty="0"/>
          </a:p>
        </p:txBody>
      </p:sp>
      <p:sp>
        <p:nvSpPr>
          <p:cNvPr id="17" name="Shape 15"/>
          <p:cNvSpPr/>
          <p:nvPr/>
        </p:nvSpPr>
        <p:spPr>
          <a:xfrm>
            <a:off x="5752465" y="4247515"/>
            <a:ext cx="502920" cy="502920"/>
          </a:xfrm>
          <a:prstGeom prst="ellipse">
            <a:avLst/>
          </a:prstGeom>
          <a:solidFill>
            <a:srgbClr val="0E3A63"/>
          </a:solidFill>
        </p:spPr>
      </p:sp>
      <p:sp>
        <p:nvSpPr>
          <p:cNvPr id="18" name="Text 16"/>
          <p:cNvSpPr/>
          <p:nvPr/>
        </p:nvSpPr>
        <p:spPr>
          <a:xfrm>
            <a:off x="5752465" y="4247515"/>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9" name="Text 17"/>
          <p:cNvSpPr/>
          <p:nvPr/>
        </p:nvSpPr>
        <p:spPr>
          <a:xfrm>
            <a:off x="6438265" y="4201795"/>
            <a:ext cx="6217920" cy="320040"/>
          </a:xfrm>
          <a:prstGeom prst="rect">
            <a:avLst/>
          </a:prstGeom>
          <a:noFill/>
        </p:spPr>
        <p:txBody>
          <a:bodyPr wrap="square" lIns="0" tIns="0" rIns="0" bIns="0" rtlCol="0" anchor="ctr"/>
          <a:lstStyle/>
          <a:p>
            <a:pPr marL="0" indent="0">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Staff review &amp; confirm</a:t>
            </a:r>
            <a:endParaRPr lang="en-US" sz="1500" dirty="0"/>
          </a:p>
        </p:txBody>
      </p:sp>
      <p:sp>
        <p:nvSpPr>
          <p:cNvPr id="4" name="Text 18"/>
          <p:cNvSpPr/>
          <p:nvPr/>
        </p:nvSpPr>
        <p:spPr>
          <a:xfrm>
            <a:off x="6438265" y="4540123"/>
            <a:ext cx="6309360" cy="548640"/>
          </a:xfrm>
          <a:prstGeom prst="rect">
            <a:avLst/>
          </a:prstGeom>
          <a:noFill/>
        </p:spPr>
        <p:txBody>
          <a:bodyPr wrap="square" lIns="0" tIns="0" rIns="0" bIns="0" rtlCol="0" anchor="ctr"/>
          <a:lstStyle/>
          <a:p>
            <a:pPr marL="0" indent="0">
              <a:lnSpc>
                <a:spcPts val="15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A form pre-fills with extracted data. Staff verify, add the phone number, and save.</a:t>
            </a:r>
            <a:endParaRPr lang="en-US" sz="1200" dirty="0"/>
          </a:p>
        </p:txBody>
      </p:sp>
      <p:sp>
        <p:nvSpPr>
          <p:cNvPr id="21" name="Shape 19"/>
          <p:cNvSpPr/>
          <p:nvPr/>
        </p:nvSpPr>
        <p:spPr>
          <a:xfrm>
            <a:off x="5752465" y="5481955"/>
            <a:ext cx="502920" cy="502920"/>
          </a:xfrm>
          <a:prstGeom prst="ellipse">
            <a:avLst/>
          </a:prstGeom>
          <a:solidFill>
            <a:srgbClr val="0E3A63"/>
          </a:solidFill>
        </p:spPr>
      </p:sp>
      <p:sp>
        <p:nvSpPr>
          <p:cNvPr id="5" name="Text 20"/>
          <p:cNvSpPr/>
          <p:nvPr/>
        </p:nvSpPr>
        <p:spPr>
          <a:xfrm>
            <a:off x="5752465" y="5481955"/>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23" name="Text 21"/>
          <p:cNvSpPr/>
          <p:nvPr/>
        </p:nvSpPr>
        <p:spPr>
          <a:xfrm>
            <a:off x="6438265" y="5436235"/>
            <a:ext cx="6217920" cy="320040"/>
          </a:xfrm>
          <a:prstGeom prst="rect">
            <a:avLst/>
          </a:prstGeom>
          <a:noFill/>
        </p:spPr>
        <p:txBody>
          <a:bodyPr wrap="square" lIns="0" tIns="0" rIns="0" bIns="0" rtlCol="0" anchor="ctr"/>
          <a:lstStyle/>
          <a:p>
            <a:pPr marL="0" indent="0">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Export to Excel</a:t>
            </a:r>
            <a:endParaRPr lang="en-US" sz="1500" dirty="0"/>
          </a:p>
        </p:txBody>
      </p:sp>
      <p:sp>
        <p:nvSpPr>
          <p:cNvPr id="24" name="Text 22"/>
          <p:cNvSpPr/>
          <p:nvPr/>
        </p:nvSpPr>
        <p:spPr>
          <a:xfrm>
            <a:off x="6438265" y="5774563"/>
            <a:ext cx="6309360" cy="548640"/>
          </a:xfrm>
          <a:prstGeom prst="rect">
            <a:avLst/>
          </a:prstGeom>
          <a:noFill/>
        </p:spPr>
        <p:txBody>
          <a:bodyPr wrap="square" lIns="0" tIns="0" rIns="0" bIns="0" rtlCol="0" anchor="ctr"/>
          <a:lstStyle/>
          <a:p>
            <a:pPr marL="0" indent="0">
              <a:lnSpc>
                <a:spcPts val="15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All captured records export instantly as a formatted .xlsx file, ready for bulk registraiton.</a:t>
            </a:r>
            <a:endParaRPr lang="en-US" sz="1200" dirty="0"/>
          </a:p>
        </p:txBody>
      </p:sp>
      <p:sp>
        <p:nvSpPr>
          <p:cNvPr id="25" name="Text 6"/>
          <p:cNvSpPr/>
          <p:nvPr/>
        </p:nvSpPr>
        <p:spPr>
          <a:xfrm>
            <a:off x="6405880" y="361315"/>
            <a:ext cx="5486400" cy="457200"/>
          </a:xfrm>
          <a:prstGeom prst="rect">
            <a:avLst/>
          </a:prstGeom>
          <a:noFill/>
        </p:spPr>
        <p:txBody>
          <a:bodyPr wrap="square" rtlCol="0" anchor="ctr"/>
          <a:lstStyle/>
          <a:p>
            <a:pPr marL="0" indent="0">
              <a:buNone/>
            </a:pPr>
            <a:endPar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endParaRPr>
          </a:p>
          <a:p>
            <a:pPr marL="0" indent="0">
              <a:buNone/>
            </a:pPr>
            <a:r>
              <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rPr>
              <a:t>Photo-to-Data Automation</a:t>
            </a:r>
            <a:endPar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endParaRPr>
          </a:p>
          <a:p>
            <a:pPr marL="0" indent="0">
              <a:buNone/>
            </a:pPr>
            <a:endPar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106035" cy="6858000"/>
          </a:xfrm>
          <a:prstGeom prst="rect">
            <a:avLst/>
          </a:prstGeom>
          <a:solidFill>
            <a:srgbClr val="0E3A63"/>
          </a:solidFill>
        </p:spPr>
        <p:txBody>
          <a:bodyPr/>
          <a:p>
            <a:endParaRPr lang="en-US"/>
          </a:p>
        </p:txBody>
      </p:sp>
      <p:sp>
        <p:nvSpPr>
          <p:cNvPr id="8" name="Text 6"/>
          <p:cNvSpPr/>
          <p:nvPr/>
        </p:nvSpPr>
        <p:spPr>
          <a:xfrm>
            <a:off x="5441950" y="891540"/>
            <a:ext cx="5486400" cy="457200"/>
          </a:xfrm>
          <a:prstGeom prst="rect">
            <a:avLst/>
          </a:prstGeom>
          <a:noFill/>
        </p:spPr>
        <p:txBody>
          <a:bodyPr wrap="square" rtlCol="0" anchor="ctr"/>
          <a:lstStyle/>
          <a:p>
            <a:pPr marL="0" indent="0">
              <a:buNone/>
            </a:pPr>
            <a:r>
              <a:rPr lang="en-US" sz="2600" b="1" dirty="0">
                <a:solidFill>
                  <a:srgbClr val="0E3A63"/>
                </a:solidFill>
                <a:latin typeface="Cambria" panose="02040503050406030204" pitchFamily="34" charset="0"/>
                <a:ea typeface="Cambria" panose="02040503050406030204" pitchFamily="34" charset="-122"/>
                <a:cs typeface="Cambria" panose="02040503050406030204" pitchFamily="34" charset="-120"/>
              </a:rPr>
              <a:t>How It Works</a:t>
            </a:r>
            <a:endParaRPr lang="en-US" sz="2600" dirty="0"/>
          </a:p>
        </p:txBody>
      </p:sp>
      <p:sp>
        <p:nvSpPr>
          <p:cNvPr id="9" name="Shape 7"/>
          <p:cNvSpPr/>
          <p:nvPr/>
        </p:nvSpPr>
        <p:spPr>
          <a:xfrm>
            <a:off x="5441950" y="1714500"/>
            <a:ext cx="502920" cy="502920"/>
          </a:xfrm>
          <a:prstGeom prst="ellipse">
            <a:avLst/>
          </a:prstGeom>
          <a:solidFill>
            <a:srgbClr val="0E3A63"/>
          </a:solidFill>
        </p:spPr>
      </p:sp>
      <p:sp>
        <p:nvSpPr>
          <p:cNvPr id="10" name="Text 8"/>
          <p:cNvSpPr/>
          <p:nvPr/>
        </p:nvSpPr>
        <p:spPr>
          <a:xfrm>
            <a:off x="5441950" y="1714500"/>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11" name="Text 9"/>
          <p:cNvSpPr/>
          <p:nvPr/>
        </p:nvSpPr>
        <p:spPr>
          <a:xfrm>
            <a:off x="6127750" y="1668780"/>
            <a:ext cx="6217920" cy="320040"/>
          </a:xfrm>
          <a:prstGeom prst="rect">
            <a:avLst/>
          </a:prstGeom>
          <a:noFill/>
        </p:spPr>
        <p:txBody>
          <a:bodyPr wrap="square" lIns="0" tIns="0" rIns="0" bIns="0" rtlCol="0" anchor="ctr"/>
          <a:lstStyle/>
          <a:p>
            <a:pPr marL="0" indent="0">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rPr>
              <a:t>Staff manually enters data</a:t>
            </a:r>
            <a:endParaRPr lang="en-US" sz="1500" dirty="0"/>
          </a:p>
        </p:txBody>
      </p:sp>
      <p:sp>
        <p:nvSpPr>
          <p:cNvPr id="12" name="Text 10"/>
          <p:cNvSpPr/>
          <p:nvPr/>
        </p:nvSpPr>
        <p:spPr>
          <a:xfrm>
            <a:off x="6127750" y="2007108"/>
            <a:ext cx="6309360" cy="548640"/>
          </a:xfrm>
          <a:prstGeom prst="rect">
            <a:avLst/>
          </a:prstGeom>
          <a:noFill/>
        </p:spPr>
        <p:txBody>
          <a:bodyPr wrap="square" lIns="0" tIns="0" rIns="0" bIns="0" rtlCol="0" anchor="ctr"/>
          <a:lstStyle/>
          <a:p>
            <a:pPr marL="0" indent="0">
              <a:lnSpc>
                <a:spcPts val="15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rPr>
              <a:t>Manually enter the Name, Sex, Date of Birth, Nationality, NIN and Phone number of an aspiring member. </a:t>
            </a:r>
            <a:endParaRPr lang="en-US" sz="1200" dirty="0"/>
          </a:p>
        </p:txBody>
      </p:sp>
      <p:sp>
        <p:nvSpPr>
          <p:cNvPr id="13" name="Shape 11"/>
          <p:cNvSpPr/>
          <p:nvPr/>
        </p:nvSpPr>
        <p:spPr>
          <a:xfrm>
            <a:off x="5441950" y="2948940"/>
            <a:ext cx="502920" cy="502920"/>
          </a:xfrm>
          <a:prstGeom prst="ellipse">
            <a:avLst/>
          </a:prstGeom>
          <a:solidFill>
            <a:srgbClr val="0E3A63"/>
          </a:solidFill>
        </p:spPr>
      </p:sp>
      <p:sp>
        <p:nvSpPr>
          <p:cNvPr id="14" name="Text 12"/>
          <p:cNvSpPr/>
          <p:nvPr/>
        </p:nvSpPr>
        <p:spPr>
          <a:xfrm>
            <a:off x="5441950" y="2948940"/>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5" name="Text 13"/>
          <p:cNvSpPr/>
          <p:nvPr/>
        </p:nvSpPr>
        <p:spPr>
          <a:xfrm>
            <a:off x="6127750" y="2903220"/>
            <a:ext cx="6217920" cy="320040"/>
          </a:xfrm>
          <a:prstGeom prst="rect">
            <a:avLst/>
          </a:prstGeom>
          <a:noFill/>
        </p:spPr>
        <p:txBody>
          <a:bodyPr wrap="square" lIns="0" tIns="0" rIns="0" bIns="0" rtlCol="0" anchor="ctr"/>
          <a:lstStyle/>
          <a:p>
            <a:pPr marL="0" indent="0">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sym typeface="+mn-ea"/>
              </a:rPr>
              <a:t>Staff review &amp; confirm</a:t>
            </a:r>
            <a:endParaRPr lang="en-US" sz="1500" dirty="0"/>
          </a:p>
        </p:txBody>
      </p:sp>
      <p:sp>
        <p:nvSpPr>
          <p:cNvPr id="16" name="Text 14"/>
          <p:cNvSpPr/>
          <p:nvPr/>
        </p:nvSpPr>
        <p:spPr>
          <a:xfrm>
            <a:off x="6127750" y="3241548"/>
            <a:ext cx="6309360" cy="548640"/>
          </a:xfrm>
          <a:prstGeom prst="rect">
            <a:avLst/>
          </a:prstGeom>
          <a:noFill/>
        </p:spPr>
        <p:txBody>
          <a:bodyPr wrap="square" lIns="0" tIns="0" rIns="0" bIns="0" rtlCol="0" anchor="ctr"/>
          <a:lstStyle/>
          <a:p>
            <a:pPr marL="0" indent="0">
              <a:lnSpc>
                <a:spcPts val="15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sym typeface="+mn-ea"/>
              </a:rPr>
              <a:t>Staff verify the data, and save.</a:t>
            </a:r>
            <a:endParaRPr lang="en-US" sz="1200" dirty="0"/>
          </a:p>
        </p:txBody>
      </p:sp>
      <p:sp>
        <p:nvSpPr>
          <p:cNvPr id="17" name="Shape 15"/>
          <p:cNvSpPr/>
          <p:nvPr/>
        </p:nvSpPr>
        <p:spPr>
          <a:xfrm>
            <a:off x="5441950" y="4183380"/>
            <a:ext cx="502920" cy="502920"/>
          </a:xfrm>
          <a:prstGeom prst="ellipse">
            <a:avLst/>
          </a:prstGeom>
          <a:solidFill>
            <a:srgbClr val="0E3A63"/>
          </a:solidFill>
        </p:spPr>
      </p:sp>
      <p:sp>
        <p:nvSpPr>
          <p:cNvPr id="18" name="Text 16"/>
          <p:cNvSpPr/>
          <p:nvPr/>
        </p:nvSpPr>
        <p:spPr>
          <a:xfrm>
            <a:off x="5441950" y="4183380"/>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9" name="Text 17"/>
          <p:cNvSpPr/>
          <p:nvPr/>
        </p:nvSpPr>
        <p:spPr>
          <a:xfrm>
            <a:off x="6127750" y="4137660"/>
            <a:ext cx="6217920" cy="320040"/>
          </a:xfrm>
          <a:prstGeom prst="rect">
            <a:avLst/>
          </a:prstGeom>
          <a:noFill/>
        </p:spPr>
        <p:txBody>
          <a:bodyPr wrap="square" lIns="0" tIns="0" rIns="0" bIns="0" rtlCol="0" anchor="ctr"/>
          <a:lstStyle/>
          <a:p>
            <a:pPr marL="0" indent="0">
              <a:buNone/>
            </a:pPr>
            <a:r>
              <a:rPr lang="en-US" sz="1500" b="1" dirty="0">
                <a:solidFill>
                  <a:srgbClr val="1B2A41"/>
                </a:solidFill>
                <a:latin typeface="Calibri" panose="020F0502020204030204" pitchFamily="34" charset="0"/>
                <a:ea typeface="Calibri" panose="020F0502020204030204" pitchFamily="34" charset="-122"/>
                <a:cs typeface="Calibri" panose="020F0502020204030204" pitchFamily="34" charset="-120"/>
                <a:sym typeface="+mn-ea"/>
              </a:rPr>
              <a:t>Export to Excel</a:t>
            </a:r>
            <a:endParaRPr lang="en-US" sz="1500" dirty="0"/>
          </a:p>
        </p:txBody>
      </p:sp>
      <p:sp>
        <p:nvSpPr>
          <p:cNvPr id="20" name="Text 18"/>
          <p:cNvSpPr/>
          <p:nvPr/>
        </p:nvSpPr>
        <p:spPr>
          <a:xfrm>
            <a:off x="6127750" y="4475988"/>
            <a:ext cx="6309360" cy="548640"/>
          </a:xfrm>
          <a:prstGeom prst="rect">
            <a:avLst/>
          </a:prstGeom>
          <a:noFill/>
        </p:spPr>
        <p:txBody>
          <a:bodyPr wrap="square" lIns="0" tIns="0" rIns="0" bIns="0" rtlCol="0" anchor="ctr"/>
          <a:lstStyle/>
          <a:p>
            <a:pPr marL="0" indent="0">
              <a:lnSpc>
                <a:spcPts val="1500"/>
              </a:lnSpc>
              <a:buNone/>
            </a:pPr>
            <a:r>
              <a:rPr lang="en-US" sz="1200" dirty="0">
                <a:solidFill>
                  <a:srgbClr val="5B6472"/>
                </a:solidFill>
                <a:latin typeface="Calibri" panose="020F0502020204030204" pitchFamily="34" charset="0"/>
                <a:ea typeface="Calibri" panose="020F0502020204030204" pitchFamily="34" charset="-122"/>
                <a:cs typeface="Calibri" panose="020F0502020204030204" pitchFamily="34" charset="-120"/>
                <a:sym typeface="+mn-ea"/>
              </a:rPr>
              <a:t>All entered records export instantly as a formatted .xlsx file, ready for upload to bulk registraiton.</a:t>
            </a:r>
            <a:endParaRPr lang="en-US" sz="1200" dirty="0"/>
          </a:p>
        </p:txBody>
      </p:sp>
      <p:pic>
        <p:nvPicPr>
          <p:cNvPr id="4" name="Picture 3"/>
          <p:cNvPicPr>
            <a:picLocks noChangeAspect="1"/>
          </p:cNvPicPr>
          <p:nvPr/>
        </p:nvPicPr>
        <p:blipFill>
          <a:blip r:embed="rId1"/>
          <a:stretch>
            <a:fillRect/>
          </a:stretch>
        </p:blipFill>
        <p:spPr>
          <a:xfrm>
            <a:off x="848360" y="668020"/>
            <a:ext cx="3409315" cy="6118860"/>
          </a:xfrm>
          <a:prstGeom prst="rect">
            <a:avLst/>
          </a:prstGeom>
        </p:spPr>
      </p:pic>
      <p:sp>
        <p:nvSpPr>
          <p:cNvPr id="43" name="Text 1"/>
          <p:cNvSpPr/>
          <p:nvPr/>
        </p:nvSpPr>
        <p:spPr>
          <a:xfrm>
            <a:off x="295275" y="137160"/>
            <a:ext cx="5486400" cy="365760"/>
          </a:xfrm>
          <a:prstGeom prst="rect">
            <a:avLst/>
          </a:prstGeom>
          <a:noFill/>
        </p:spPr>
        <p:txBody>
          <a:bodyPr wrap="square" rtlCol="0" anchor="ctr"/>
          <a:lstStyle/>
          <a:p>
            <a:pPr marL="0" indent="0">
              <a:buNone/>
            </a:pPr>
            <a:r>
              <a:rPr lang="en-US" altLang="en-US" sz="32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rPr>
              <a:t>ENTER DATA MANUALLY</a:t>
            </a:r>
            <a:endParaRPr lang="en-US" altLang="en-US" sz="3200" b="1" u="sng"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p:txBody>
      </p:sp>
      <p:sp>
        <p:nvSpPr>
          <p:cNvPr id="44" name="Text 6"/>
          <p:cNvSpPr/>
          <p:nvPr/>
        </p:nvSpPr>
        <p:spPr>
          <a:xfrm>
            <a:off x="6493510" y="297180"/>
            <a:ext cx="5486400" cy="457200"/>
          </a:xfrm>
          <a:prstGeom prst="rect">
            <a:avLst/>
          </a:prstGeom>
          <a:noFill/>
        </p:spPr>
        <p:txBody>
          <a:bodyPr wrap="square" rtlCol="0" anchor="ctr"/>
          <a:lstStyle/>
          <a:p>
            <a:pPr marL="0" indent="0">
              <a:buNone/>
            </a:pPr>
            <a:endPar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endParaRPr>
          </a:p>
          <a:p>
            <a:pPr marL="0" indent="0">
              <a:buNone/>
            </a:pPr>
            <a:r>
              <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rPr>
              <a:t>Manual Data Capture</a:t>
            </a:r>
            <a:endPar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endParaRPr>
          </a:p>
          <a:p>
            <a:pPr marL="0" indent="0">
              <a:buNone/>
            </a:pPr>
            <a:endParaRPr lang="en-US" altLang="en-US" sz="2400" b="1" dirty="0">
              <a:solidFill>
                <a:srgbClr val="0E3A63"/>
              </a:solidFill>
              <a:latin typeface="Cambria" panose="02040503050406030204" pitchFamily="34" charset="0"/>
              <a:ea typeface="Cambria" panose="02040503050406030204" pitchFamily="34" charset="-122"/>
              <a:cs typeface="Cambria" panose="02040503050406030204"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3" name="Text 1"/>
          <p:cNvSpPr/>
          <p:nvPr/>
        </p:nvSpPr>
        <p:spPr>
          <a:xfrm>
            <a:off x="502920" y="548640"/>
            <a:ext cx="3291840" cy="815975"/>
          </a:xfrm>
          <a:prstGeom prst="rect">
            <a:avLst/>
          </a:prstGeom>
          <a:noFill/>
        </p:spPr>
        <p:txBody>
          <a:bodyPr wrap="square" rtlCol="0" anchor="ctr"/>
          <a:lstStyle/>
          <a:p>
            <a:pPr marL="0" indent="0">
              <a:lnSpc>
                <a:spcPts val="3600"/>
              </a:lnSpc>
              <a:buNone/>
            </a:pPr>
            <a:r>
              <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SCAN ID OPTION </a:t>
            </a: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a:p>
            <a:pPr marL="0" indent="0">
              <a:lnSpc>
                <a:spcPts val="3600"/>
              </a:lnSpc>
              <a:buNone/>
            </a:pP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02920" y="1234440"/>
            <a:ext cx="914400" cy="914400"/>
          </a:xfrm>
          <a:prstGeom prst="roundRect">
            <a:avLst>
              <a:gd name="adj" fmla="val 10000"/>
            </a:avLst>
          </a:prstGeom>
          <a:solidFill>
            <a:srgbClr val="E3A93E"/>
          </a:solidFill>
        </p:spPr>
      </p:sp>
      <p:sp>
        <p:nvSpPr>
          <p:cNvPr id="5" name="Text 3"/>
          <p:cNvSpPr/>
          <p:nvPr/>
        </p:nvSpPr>
        <p:spPr>
          <a:xfrm>
            <a:off x="502920" y="12344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502920" y="2148840"/>
            <a:ext cx="3383280" cy="2512695"/>
          </a:xfrm>
          <a:prstGeom prst="rect">
            <a:avLst/>
          </a:prstGeom>
          <a:noFill/>
        </p:spPr>
        <p:txBody>
          <a:bodyPr wrap="square" rtlCol="0" anchor="ctr"/>
          <a:lstStyle/>
          <a:p>
            <a:pPr marL="0" indent="0">
              <a:lnSpc>
                <a:spcPct val="100000"/>
              </a:lnSpc>
              <a:buNone/>
            </a:pPr>
            <a:r>
              <a:rPr 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rPr>
              <a:t>Photo-to-Data</a:t>
            </a:r>
            <a:endParaRPr lang="en-US" sz="4000" dirty="0"/>
          </a:p>
          <a:p>
            <a:pPr marL="0" indent="0">
              <a:lnSpc>
                <a:spcPct val="100000"/>
              </a:lnSpc>
              <a:buNone/>
            </a:pPr>
            <a:r>
              <a:rPr 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rPr>
              <a:t>Automation</a:t>
            </a:r>
            <a:endParaRPr lang="en-US" sz="4000" dirty="0"/>
          </a:p>
        </p:txBody>
      </p:sp>
      <p:sp>
        <p:nvSpPr>
          <p:cNvPr id="25" name="Text Box 24"/>
          <p:cNvSpPr txBox="1"/>
          <p:nvPr/>
        </p:nvSpPr>
        <p:spPr>
          <a:xfrm>
            <a:off x="4572000" y="508000"/>
            <a:ext cx="7112000" cy="429895"/>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rPr>
              <a:t>STEP 1: SELECT DATA ENTRY OPTION </a:t>
            </a:r>
            <a:endParaRPr 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572000" y="1079500"/>
            <a:ext cx="7112000" cy="291465"/>
          </a:xfrm>
          <a:prstGeom prst="rect">
            <a:avLst/>
          </a:prstGeom>
          <a:noFill/>
        </p:spPr>
        <p:txBody>
          <a:bodyPr wrap="square" rtlCol="0" anchor="t">
            <a:spAutoFit/>
          </a:bodyPr>
          <a:p>
            <a:r>
              <a:rPr lang="en-US" sz="1300">
                <a:solidFill>
                  <a:srgbClr val="333333"/>
                </a:solidFill>
                <a:latin typeface="Calibri" panose="020F0502020204030204" pitchFamily="34" charset="0"/>
                <a:cs typeface="Calibri" panose="020F0502020204030204" pitchFamily="34" charset="0"/>
              </a:rPr>
              <a:t>Staff selects their desired data capture option. In this case Scan ID option.  </a:t>
            </a:r>
            <a:endParaRPr lang="en-US" sz="1300">
              <a:solidFill>
                <a:srgbClr val="333333"/>
              </a:solidFill>
              <a:latin typeface="Calibri" panose="020F0502020204030204" pitchFamily="34" charset="0"/>
              <a:cs typeface="Calibri" panose="020F0502020204030204" pitchFamily="34" charset="0"/>
            </a:endParaRPr>
          </a:p>
        </p:txBody>
      </p:sp>
      <p:pic>
        <p:nvPicPr>
          <p:cNvPr id="20" name="Picture 19"/>
          <p:cNvPicPr>
            <a:picLocks noChangeAspect="1"/>
          </p:cNvPicPr>
          <p:nvPr/>
        </p:nvPicPr>
        <p:blipFill>
          <a:blip r:embed="rId1"/>
          <a:stretch>
            <a:fillRect/>
          </a:stretch>
        </p:blipFill>
        <p:spPr>
          <a:xfrm>
            <a:off x="5053330" y="1512570"/>
            <a:ext cx="3870960" cy="5137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3" name="Text 1"/>
          <p:cNvSpPr/>
          <p:nvPr/>
        </p:nvSpPr>
        <p:spPr>
          <a:xfrm>
            <a:off x="502920" y="548640"/>
            <a:ext cx="3291840" cy="815975"/>
          </a:xfrm>
          <a:prstGeom prst="rect">
            <a:avLst/>
          </a:prstGeom>
          <a:noFill/>
        </p:spPr>
        <p:txBody>
          <a:bodyPr wrap="square" rtlCol="0" anchor="ctr"/>
          <a:lstStyle/>
          <a:p>
            <a:pPr marL="0" indent="0">
              <a:lnSpc>
                <a:spcPts val="3600"/>
              </a:lnSpc>
              <a:buNone/>
            </a:pPr>
            <a:r>
              <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SCAN ID OPTION </a:t>
            </a: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a:p>
            <a:pPr marL="0" indent="0">
              <a:lnSpc>
                <a:spcPts val="3600"/>
              </a:lnSpc>
              <a:buNone/>
            </a:pP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02920" y="1234440"/>
            <a:ext cx="914400" cy="914400"/>
          </a:xfrm>
          <a:prstGeom prst="roundRect">
            <a:avLst>
              <a:gd name="adj" fmla="val 10000"/>
            </a:avLst>
          </a:prstGeom>
          <a:solidFill>
            <a:srgbClr val="E3A93E"/>
          </a:solidFill>
        </p:spPr>
      </p:sp>
      <p:sp>
        <p:nvSpPr>
          <p:cNvPr id="5" name="Text 3"/>
          <p:cNvSpPr/>
          <p:nvPr/>
        </p:nvSpPr>
        <p:spPr>
          <a:xfrm>
            <a:off x="502920" y="12344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502920" y="2148840"/>
            <a:ext cx="3383280" cy="2512695"/>
          </a:xfrm>
          <a:prstGeom prst="rect">
            <a:avLst/>
          </a:prstGeom>
          <a:noFill/>
        </p:spPr>
        <p:txBody>
          <a:bodyPr wrap="square" rtlCol="0" anchor="ctr"/>
          <a:lstStyle/>
          <a:p>
            <a:pPr marL="0" indent="0">
              <a:lnSpc>
                <a:spcPct val="100000"/>
              </a:lnSpc>
              <a:buNone/>
            </a:pPr>
            <a:r>
              <a:rPr 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rPr>
              <a:t>Photo-to-Data</a:t>
            </a:r>
            <a:endParaRPr lang="en-US" sz="4000" dirty="0"/>
          </a:p>
          <a:p>
            <a:pPr marL="0" indent="0">
              <a:lnSpc>
                <a:spcPct val="100000"/>
              </a:lnSpc>
              <a:buNone/>
            </a:pPr>
            <a:r>
              <a:rPr 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rPr>
              <a:t>Automation</a:t>
            </a:r>
            <a:endParaRPr lang="en-US" sz="4000" dirty="0"/>
          </a:p>
        </p:txBody>
      </p:sp>
      <p:sp>
        <p:nvSpPr>
          <p:cNvPr id="25" name="Text Box 24"/>
          <p:cNvSpPr txBox="1"/>
          <p:nvPr/>
        </p:nvSpPr>
        <p:spPr>
          <a:xfrm>
            <a:off x="4572000" y="508000"/>
            <a:ext cx="7112000" cy="429895"/>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rPr>
              <a:t>STEP 2: CAMERA CAPTURE &amp; GALLERY UPLOAD</a:t>
            </a:r>
            <a:endParaRPr 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572000" y="1079500"/>
            <a:ext cx="7112000" cy="491490"/>
          </a:xfrm>
          <a:prstGeom prst="rect">
            <a:avLst/>
          </a:prstGeom>
          <a:noFill/>
        </p:spPr>
        <p:txBody>
          <a:bodyPr wrap="square" rtlCol="0" anchor="t">
            <a:spAutoFit/>
          </a:bodyPr>
          <a:p>
            <a:r>
              <a:rPr lang="en-US" sz="1300">
                <a:solidFill>
                  <a:srgbClr val="333333"/>
                </a:solidFill>
                <a:latin typeface="Calibri" panose="020F0502020204030204" pitchFamily="34" charset="0"/>
                <a:cs typeface="Calibri" panose="020F0502020204030204" pitchFamily="34" charset="0"/>
              </a:rPr>
              <a:t>Staff can scan the member's National ID directly using a phone or laptop camera, or choose a file from the device gallery. A custom source selector prevents Android/iOS browser camera lockout bugs.</a:t>
            </a:r>
            <a:endParaRPr lang="en-US" sz="1300">
              <a:solidFill>
                <a:srgbClr val="333333"/>
              </a:solidFill>
              <a:latin typeface="Calibri" panose="020F0502020204030204" pitchFamily="34" charset="0"/>
              <a:cs typeface="Calibri" panose="020F0502020204030204" pitchFamily="34" charset="0"/>
            </a:endParaRPr>
          </a:p>
        </p:txBody>
      </p:sp>
      <p:pic>
        <p:nvPicPr>
          <p:cNvPr id="27" name="Picture 26" descr="screenshot_selector"/>
          <p:cNvPicPr>
            <a:picLocks noChangeAspect="1"/>
          </p:cNvPicPr>
          <p:nvPr/>
        </p:nvPicPr>
        <p:blipFill>
          <a:blip r:embed="rId1"/>
          <a:stretch>
            <a:fillRect/>
          </a:stretch>
        </p:blipFill>
        <p:spPr>
          <a:xfrm>
            <a:off x="5588000" y="2032000"/>
            <a:ext cx="5080000" cy="4064000"/>
          </a:xfrm>
          <a:prstGeom prst="rect">
            <a:avLst/>
          </a:prstGeom>
          <a:ln w="19050">
            <a:solidFill>
              <a:srgbClr val="DDDDDD"/>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25" name="Text Box 24"/>
          <p:cNvSpPr txBox="1"/>
          <p:nvPr/>
        </p:nvSpPr>
        <p:spPr>
          <a:xfrm>
            <a:off x="4572000" y="508000"/>
            <a:ext cx="7112000" cy="429895"/>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rPr>
              <a:t>STEP 3: EDGE DETECTION &amp; PERSPECTIVE WARPING</a:t>
            </a:r>
            <a:endParaRPr 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572000" y="1079500"/>
            <a:ext cx="7112000" cy="491490"/>
          </a:xfrm>
          <a:prstGeom prst="rect">
            <a:avLst/>
          </a:prstGeom>
          <a:noFill/>
        </p:spPr>
        <p:txBody>
          <a:bodyPr wrap="square" rtlCol="0" anchor="t">
            <a:spAutoFit/>
          </a:bodyPr>
          <a:p>
            <a:r>
              <a:rPr lang="en-US" sz="1300">
                <a:solidFill>
                  <a:srgbClr val="333333"/>
                </a:solidFill>
                <a:latin typeface="Calibri" panose="020F0502020204030204" pitchFamily="34" charset="0"/>
                <a:cs typeface="Calibri" panose="020F0502020204030204" pitchFamily="34" charset="0"/>
              </a:rPr>
              <a:t>The tool automatically detects card boundaries using OpenCV.js. If auto-detection fails (e.g. due to lighting), staff can manually adjust the 4 corners using a touch-friendly interface.</a:t>
            </a:r>
            <a:endParaRPr lang="en-US" sz="1300">
              <a:solidFill>
                <a:srgbClr val="333333"/>
              </a:solidFill>
              <a:latin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1"/>
          <a:stretch>
            <a:fillRect/>
          </a:stretch>
        </p:blipFill>
        <p:spPr>
          <a:xfrm>
            <a:off x="6513830" y="1570990"/>
            <a:ext cx="3095625" cy="5209540"/>
          </a:xfrm>
          <a:prstGeom prst="rect">
            <a:avLst/>
          </a:prstGeom>
        </p:spPr>
      </p:pic>
      <p:sp>
        <p:nvSpPr>
          <p:cNvPr id="9" name="Text 1"/>
          <p:cNvSpPr/>
          <p:nvPr/>
        </p:nvSpPr>
        <p:spPr>
          <a:xfrm>
            <a:off x="502920" y="548640"/>
            <a:ext cx="3291840" cy="815975"/>
          </a:xfrm>
          <a:prstGeom prst="rect">
            <a:avLst/>
          </a:prstGeom>
          <a:noFill/>
        </p:spPr>
        <p:txBody>
          <a:bodyPr wrap="square" rtlCol="0" anchor="ctr"/>
          <a:lstStyle/>
          <a:p>
            <a:pPr marL="0" indent="0">
              <a:lnSpc>
                <a:spcPts val="3600"/>
              </a:lnSpc>
              <a:buNone/>
            </a:pPr>
            <a:r>
              <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SCAN ID OPTION </a:t>
            </a: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a:p>
            <a:pPr marL="0" indent="0">
              <a:lnSpc>
                <a:spcPts val="3600"/>
              </a:lnSpc>
              <a:buNone/>
            </a:pP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0" name="Shape 2"/>
          <p:cNvSpPr/>
          <p:nvPr/>
        </p:nvSpPr>
        <p:spPr>
          <a:xfrm>
            <a:off x="502920" y="1234440"/>
            <a:ext cx="914400" cy="914400"/>
          </a:xfrm>
          <a:prstGeom prst="roundRect">
            <a:avLst>
              <a:gd name="adj" fmla="val 10000"/>
            </a:avLst>
          </a:prstGeom>
          <a:solidFill>
            <a:srgbClr val="E3A93E"/>
          </a:solidFill>
        </p:spPr>
      </p:sp>
      <p:sp>
        <p:nvSpPr>
          <p:cNvPr id="11" name="Text 3"/>
          <p:cNvSpPr/>
          <p:nvPr/>
        </p:nvSpPr>
        <p:spPr>
          <a:xfrm>
            <a:off x="502920" y="12344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2" name="Text 4"/>
          <p:cNvSpPr/>
          <p:nvPr/>
        </p:nvSpPr>
        <p:spPr>
          <a:xfrm>
            <a:off x="502920" y="2296795"/>
            <a:ext cx="3383280" cy="2512695"/>
          </a:xfrm>
          <a:prstGeom prst="rect">
            <a:avLst/>
          </a:prstGeom>
          <a:noFill/>
        </p:spPr>
        <p:txBody>
          <a:bodyPr wrap="square" rtlCol="0" anchor="ctr"/>
          <a:lstStyle/>
          <a:p>
            <a:pPr marL="0" indent="0">
              <a:lnSpc>
                <a:spcPct val="100000"/>
              </a:lnSpc>
              <a:buNone/>
            </a:pPr>
            <a:r>
              <a:rPr 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rPr>
              <a:t>Photo-to-Data</a:t>
            </a:r>
            <a:endParaRPr lang="en-US" sz="4000" dirty="0"/>
          </a:p>
          <a:p>
            <a:pPr marL="0" indent="0">
              <a:lnSpc>
                <a:spcPct val="100000"/>
              </a:lnSpc>
              <a:buNone/>
            </a:pPr>
            <a:r>
              <a:rPr 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rPr>
              <a:t>Automation</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3" name="Text 1"/>
          <p:cNvSpPr/>
          <p:nvPr/>
        </p:nvSpPr>
        <p:spPr>
          <a:xfrm>
            <a:off x="502920" y="548640"/>
            <a:ext cx="3291840" cy="1371600"/>
          </a:xfrm>
          <a:prstGeom prst="rect">
            <a:avLst/>
          </a:prstGeom>
          <a:noFill/>
        </p:spPr>
        <p:txBody>
          <a:bodyPr wrap="square" rtlCol="0" anchor="ctr"/>
          <a:lstStyle/>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a:t>
            </a:r>
            <a:endParaRPr lang="en-US" sz="3200" dirty="0"/>
          </a:p>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SOLUTION</a:t>
            </a:r>
            <a:endParaRPr lang="en-US" sz="3200" dirty="0"/>
          </a:p>
        </p:txBody>
      </p:sp>
      <p:sp>
        <p:nvSpPr>
          <p:cNvPr id="4" name="Shape 2"/>
          <p:cNvSpPr/>
          <p:nvPr/>
        </p:nvSpPr>
        <p:spPr>
          <a:xfrm>
            <a:off x="502920" y="2148840"/>
            <a:ext cx="914400" cy="914400"/>
          </a:xfrm>
          <a:prstGeom prst="roundRect">
            <a:avLst>
              <a:gd name="adj" fmla="val 10000"/>
            </a:avLst>
          </a:prstGeom>
          <a:solidFill>
            <a:srgbClr val="E3A93E"/>
          </a:solidFill>
        </p:spPr>
      </p:sp>
      <p:sp>
        <p:nvSpPr>
          <p:cNvPr id="5" name="Text 3"/>
          <p:cNvSpPr/>
          <p:nvPr/>
        </p:nvSpPr>
        <p:spPr>
          <a:xfrm>
            <a:off x="502920" y="21488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502920" y="3291840"/>
            <a:ext cx="3383280" cy="822960"/>
          </a:xfrm>
          <a:prstGeom prst="rect">
            <a:avLst/>
          </a:prstGeom>
          <a:noFill/>
        </p:spPr>
        <p:txBody>
          <a:bodyPr wrap="square" rtlCol="0" anchor="ctr"/>
          <a:lstStyle/>
          <a:p>
            <a:pPr marL="0" indent="0">
              <a:lnSpc>
                <a:spcPts val="2400"/>
              </a:lnSpc>
              <a:buNone/>
            </a:pPr>
            <a:r>
              <a:rPr lang="en-US" sz="1900" b="1" dirty="0">
                <a:solidFill>
                  <a:srgbClr val="E3A93E"/>
                </a:solidFill>
                <a:latin typeface="Cambria" panose="02040503050406030204" pitchFamily="34" charset="0"/>
                <a:ea typeface="Cambria" panose="02040503050406030204" pitchFamily="34" charset="-122"/>
                <a:cs typeface="Cambria" panose="02040503050406030204" pitchFamily="34" charset="-120"/>
              </a:rPr>
              <a:t>Photo-to-Data</a:t>
            </a:r>
            <a:endParaRPr lang="en-US" sz="1900" dirty="0"/>
          </a:p>
          <a:p>
            <a:pPr marL="0" indent="0">
              <a:lnSpc>
                <a:spcPts val="2400"/>
              </a:lnSpc>
              <a:buNone/>
            </a:pPr>
            <a:r>
              <a:rPr lang="en-US" sz="1900" b="1" dirty="0">
                <a:solidFill>
                  <a:srgbClr val="E3A93E"/>
                </a:solidFill>
                <a:latin typeface="Cambria" panose="02040503050406030204" pitchFamily="34" charset="0"/>
                <a:ea typeface="Cambria" panose="02040503050406030204" pitchFamily="34" charset="-122"/>
                <a:cs typeface="Cambria" panose="02040503050406030204" pitchFamily="34" charset="-120"/>
              </a:rPr>
              <a:t>Automation</a:t>
            </a:r>
            <a:endParaRPr lang="en-US" sz="1900" dirty="0"/>
          </a:p>
        </p:txBody>
      </p:sp>
      <p:sp>
        <p:nvSpPr>
          <p:cNvPr id="7" name="Text 5"/>
          <p:cNvSpPr/>
          <p:nvPr/>
        </p:nvSpPr>
        <p:spPr>
          <a:xfrm>
            <a:off x="502920" y="4160520"/>
            <a:ext cx="3337560" cy="1097280"/>
          </a:xfrm>
          <a:prstGeom prst="rect">
            <a:avLst/>
          </a:prstGeom>
          <a:noFill/>
        </p:spPr>
        <p:txBody>
          <a:bodyPr wrap="square" rtlCol="0" anchor="ctr"/>
          <a:lstStyle/>
          <a:p>
            <a:pPr marL="0" indent="0">
              <a:lnSpc>
                <a:spcPts val="1800"/>
              </a:lnSpc>
              <a:buNone/>
            </a:pPr>
            <a:r>
              <a:rPr lang="en-US" sz="1300" dirty="0">
                <a:solidFill>
                  <a:srgbClr val="D6E0EC"/>
                </a:solidFill>
                <a:latin typeface="Calibri" panose="020F0502020204030204" pitchFamily="34" charset="0"/>
                <a:ea typeface="Calibri" panose="020F0502020204030204" pitchFamily="34" charset="-122"/>
                <a:cs typeface="Calibri" panose="020F0502020204030204" pitchFamily="34" charset="-120"/>
              </a:rPr>
              <a:t>A lightweight tool that reads any Uganda National ID with a phone camera — no typing.</a:t>
            </a:r>
            <a:endParaRPr lang="en-US" sz="1300" dirty="0"/>
          </a:p>
        </p:txBody>
      </p:sp>
      <p:sp>
        <p:nvSpPr>
          <p:cNvPr id="25" name="Text Box 24"/>
          <p:cNvSpPr txBox="1"/>
          <p:nvPr/>
        </p:nvSpPr>
        <p:spPr>
          <a:xfrm>
            <a:off x="4572000" y="508000"/>
            <a:ext cx="7112000" cy="429895"/>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rPr>
              <a:t>STEP 4: OCR DATA EXTRACTION &amp; VALIDATION</a:t>
            </a:r>
            <a:endParaRPr 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572000" y="1079500"/>
            <a:ext cx="7112000" cy="491490"/>
          </a:xfrm>
          <a:prstGeom prst="rect">
            <a:avLst/>
          </a:prstGeom>
          <a:noFill/>
        </p:spPr>
        <p:txBody>
          <a:bodyPr wrap="square" rtlCol="0" anchor="t">
            <a:spAutoFit/>
          </a:bodyPr>
          <a:p>
            <a:r>
              <a:rPr lang="en-US" sz="1300">
                <a:solidFill>
                  <a:srgbClr val="333333"/>
                </a:solidFill>
                <a:latin typeface="Calibri" panose="020F0502020204030204" pitchFamily="34" charset="0"/>
                <a:cs typeface="Calibri" panose="020F0502020204030204" pitchFamily="34" charset="0"/>
              </a:rPr>
              <a:t>Tesseract.js extracts names, NIN, DOB, and expiry. Fields are visually highlighted based on confidence levels (green for high confidence, amber for review, red for critical errors).</a:t>
            </a:r>
            <a:endParaRPr lang="en-US" sz="1300">
              <a:solidFill>
                <a:srgbClr val="333333"/>
              </a:solidFill>
              <a:latin typeface="Calibri" panose="020F0502020204030204" pitchFamily="34" charset="0"/>
              <a:cs typeface="Calibri" panose="020F0502020204030204" pitchFamily="34" charset="0"/>
            </a:endParaRPr>
          </a:p>
        </p:txBody>
      </p:sp>
      <p:pic>
        <p:nvPicPr>
          <p:cNvPr id="27" name="Picture 26" descr="screenshot_review"/>
          <p:cNvPicPr>
            <a:picLocks noChangeAspect="1"/>
          </p:cNvPicPr>
          <p:nvPr/>
        </p:nvPicPr>
        <p:blipFill>
          <a:blip r:embed="rId1"/>
          <a:srcRect l="16753" r="18201"/>
          <a:stretch>
            <a:fillRect/>
          </a:stretch>
        </p:blipFill>
        <p:spPr>
          <a:xfrm>
            <a:off x="4411980" y="1712595"/>
            <a:ext cx="3446780" cy="4723765"/>
          </a:xfrm>
          <a:prstGeom prst="rect">
            <a:avLst/>
          </a:prstGeom>
          <a:ln w="19050">
            <a:solidFill>
              <a:srgbClr val="DDDDDD"/>
            </a:solidFill>
          </a:ln>
        </p:spPr>
      </p:pic>
      <p:pic>
        <p:nvPicPr>
          <p:cNvPr id="8" name="Picture 7"/>
          <p:cNvPicPr>
            <a:picLocks noChangeAspect="1"/>
          </p:cNvPicPr>
          <p:nvPr/>
        </p:nvPicPr>
        <p:blipFill>
          <a:blip r:embed="rId2"/>
          <a:stretch>
            <a:fillRect/>
          </a:stretch>
        </p:blipFill>
        <p:spPr>
          <a:xfrm>
            <a:off x="8693785" y="1684655"/>
            <a:ext cx="2953385" cy="47485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3" name="Text 1"/>
          <p:cNvSpPr/>
          <p:nvPr/>
        </p:nvSpPr>
        <p:spPr>
          <a:xfrm>
            <a:off x="502920" y="548640"/>
            <a:ext cx="3291840" cy="1371600"/>
          </a:xfrm>
          <a:prstGeom prst="rect">
            <a:avLst/>
          </a:prstGeom>
          <a:noFill/>
        </p:spPr>
        <p:txBody>
          <a:bodyPr wrap="square" rtlCol="0" anchor="ctr"/>
          <a:lstStyle/>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a:t>
            </a:r>
            <a:endParaRPr lang="en-US" sz="3200" dirty="0"/>
          </a:p>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SOLUTION</a:t>
            </a:r>
            <a:endParaRPr lang="en-US" sz="3200" dirty="0"/>
          </a:p>
        </p:txBody>
      </p:sp>
      <p:sp>
        <p:nvSpPr>
          <p:cNvPr id="4" name="Shape 2"/>
          <p:cNvSpPr/>
          <p:nvPr/>
        </p:nvSpPr>
        <p:spPr>
          <a:xfrm>
            <a:off x="502920" y="2148840"/>
            <a:ext cx="914400" cy="914400"/>
          </a:xfrm>
          <a:prstGeom prst="roundRect">
            <a:avLst>
              <a:gd name="adj" fmla="val 10000"/>
            </a:avLst>
          </a:prstGeom>
          <a:solidFill>
            <a:srgbClr val="E3A93E"/>
          </a:solidFill>
        </p:spPr>
      </p:sp>
      <p:sp>
        <p:nvSpPr>
          <p:cNvPr id="5" name="Text 3"/>
          <p:cNvSpPr/>
          <p:nvPr/>
        </p:nvSpPr>
        <p:spPr>
          <a:xfrm>
            <a:off x="502920" y="21488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502920" y="3291840"/>
            <a:ext cx="3383280" cy="822960"/>
          </a:xfrm>
          <a:prstGeom prst="rect">
            <a:avLst/>
          </a:prstGeom>
          <a:noFill/>
        </p:spPr>
        <p:txBody>
          <a:bodyPr wrap="square" rtlCol="0" anchor="ctr"/>
          <a:lstStyle/>
          <a:p>
            <a:pPr marL="0" indent="0">
              <a:lnSpc>
                <a:spcPts val="2400"/>
              </a:lnSpc>
              <a:buNone/>
            </a:pPr>
            <a:r>
              <a:rPr lang="en-US" sz="1900" b="1" dirty="0">
                <a:solidFill>
                  <a:srgbClr val="E3A93E"/>
                </a:solidFill>
                <a:latin typeface="Cambria" panose="02040503050406030204" pitchFamily="34" charset="0"/>
                <a:ea typeface="Cambria" panose="02040503050406030204" pitchFamily="34" charset="-122"/>
                <a:cs typeface="Cambria" panose="02040503050406030204" pitchFamily="34" charset="-120"/>
              </a:rPr>
              <a:t>Photo-to-Data</a:t>
            </a:r>
            <a:endParaRPr lang="en-US" sz="1900" dirty="0"/>
          </a:p>
          <a:p>
            <a:pPr marL="0" indent="0">
              <a:lnSpc>
                <a:spcPts val="2400"/>
              </a:lnSpc>
              <a:buNone/>
            </a:pPr>
            <a:r>
              <a:rPr lang="en-US" sz="1900" b="1" dirty="0">
                <a:solidFill>
                  <a:srgbClr val="E3A93E"/>
                </a:solidFill>
                <a:latin typeface="Cambria" panose="02040503050406030204" pitchFamily="34" charset="0"/>
                <a:ea typeface="Cambria" panose="02040503050406030204" pitchFamily="34" charset="-122"/>
                <a:cs typeface="Cambria" panose="02040503050406030204" pitchFamily="34" charset="-120"/>
              </a:rPr>
              <a:t>Automation</a:t>
            </a:r>
            <a:endParaRPr lang="en-US" sz="1900" dirty="0"/>
          </a:p>
        </p:txBody>
      </p:sp>
      <p:sp>
        <p:nvSpPr>
          <p:cNvPr id="7" name="Text 5"/>
          <p:cNvSpPr/>
          <p:nvPr/>
        </p:nvSpPr>
        <p:spPr>
          <a:xfrm>
            <a:off x="502920" y="4160520"/>
            <a:ext cx="3337560" cy="1097280"/>
          </a:xfrm>
          <a:prstGeom prst="rect">
            <a:avLst/>
          </a:prstGeom>
          <a:noFill/>
        </p:spPr>
        <p:txBody>
          <a:bodyPr wrap="square" rtlCol="0" anchor="ctr"/>
          <a:lstStyle/>
          <a:p>
            <a:pPr marL="0" indent="0">
              <a:lnSpc>
                <a:spcPts val="1800"/>
              </a:lnSpc>
              <a:buNone/>
            </a:pPr>
            <a:r>
              <a:rPr lang="en-US" sz="1300" dirty="0">
                <a:solidFill>
                  <a:srgbClr val="D6E0EC"/>
                </a:solidFill>
                <a:latin typeface="Calibri" panose="020F0502020204030204" pitchFamily="34" charset="0"/>
                <a:ea typeface="Calibri" panose="020F0502020204030204" pitchFamily="34" charset="-122"/>
                <a:cs typeface="Calibri" panose="020F0502020204030204" pitchFamily="34" charset="-120"/>
              </a:rPr>
              <a:t>A lightweight tool that reads any Uganda National ID with a phone camera — no typing.</a:t>
            </a:r>
            <a:endParaRPr lang="en-US" sz="1300" dirty="0"/>
          </a:p>
        </p:txBody>
      </p:sp>
      <p:sp>
        <p:nvSpPr>
          <p:cNvPr id="25" name="Text Box 24"/>
          <p:cNvSpPr txBox="1"/>
          <p:nvPr/>
        </p:nvSpPr>
        <p:spPr>
          <a:xfrm>
            <a:off x="4572000" y="508000"/>
            <a:ext cx="7112000" cy="429895"/>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rPr>
              <a:t>STEP 5: OFFLINE RECORDS &amp; EXCEL EXPORT</a:t>
            </a:r>
            <a:endParaRPr 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572000" y="1079500"/>
            <a:ext cx="7112000" cy="491490"/>
          </a:xfrm>
          <a:prstGeom prst="rect">
            <a:avLst/>
          </a:prstGeom>
          <a:noFill/>
        </p:spPr>
        <p:txBody>
          <a:bodyPr wrap="square" rtlCol="0" anchor="t">
            <a:spAutoFit/>
          </a:bodyPr>
          <a:p>
            <a:r>
              <a:rPr lang="en-US" sz="1300">
                <a:solidFill>
                  <a:srgbClr val="333333"/>
                </a:solidFill>
                <a:latin typeface="Calibri" panose="020F0502020204030204" pitchFamily="34" charset="0"/>
                <a:cs typeface="Calibri" panose="020F0502020204030204" pitchFamily="34" charset="0"/>
              </a:rPr>
              <a:t>All captured data is saved locally on the device (fully offline). Staff can review, search, and export the entire drive's records to a formatted Excel spreadsheet with a single click.</a:t>
            </a:r>
            <a:endParaRPr lang="en-US" sz="1300">
              <a:solidFill>
                <a:srgbClr val="333333"/>
              </a:solidFill>
              <a:latin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1"/>
          <a:stretch>
            <a:fillRect/>
          </a:stretch>
        </p:blipFill>
        <p:spPr>
          <a:xfrm>
            <a:off x="5457825" y="1920240"/>
            <a:ext cx="4500880" cy="40862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548640"/>
            <a:ext cx="3291840" cy="1371600"/>
          </a:xfrm>
          <a:prstGeom prst="rect">
            <a:avLst/>
          </a:prstGeom>
          <a:noFill/>
        </p:spPr>
        <p:txBody>
          <a:bodyPr wrap="square" rtlCol="0" anchor="ctr"/>
          <a:lstStyle/>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a:t>
            </a:r>
            <a:endParaRPr lang="en-US" sz="3200" dirty="0"/>
          </a:p>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SOLUTION</a:t>
            </a:r>
            <a:endParaRPr lang="en-US" sz="3200" dirty="0"/>
          </a:p>
        </p:txBody>
      </p:sp>
      <p:sp>
        <p:nvSpPr>
          <p:cNvPr id="25" name="Text Box 24"/>
          <p:cNvSpPr txBox="1"/>
          <p:nvPr/>
        </p:nvSpPr>
        <p:spPr>
          <a:xfrm>
            <a:off x="2197100" y="205105"/>
            <a:ext cx="7112000" cy="429895"/>
          </a:xfrm>
          <a:prstGeom prst="rect">
            <a:avLst/>
          </a:prstGeom>
          <a:noFill/>
        </p:spPr>
        <p:txBody>
          <a:bodyPr wrap="square" rtlCol="0" anchor="t">
            <a:spAutoFit/>
          </a:bodyPr>
          <a:p>
            <a:pPr algn="ctr"/>
            <a:r>
              <a:rPr lang="en-US" sz="2200" b="1">
                <a:solidFill>
                  <a:srgbClr val="0D4F82"/>
                </a:solidFill>
                <a:latin typeface="Calibri" panose="020F0502020204030204" pitchFamily="34" charset="0"/>
                <a:cs typeface="Calibri" panose="020F0502020204030204" pitchFamily="34" charset="0"/>
              </a:rPr>
              <a:t>EXCEL EXPORT DATA VIEW </a:t>
            </a:r>
            <a:endParaRPr lang="en-US" sz="2200" b="1">
              <a:solidFill>
                <a:srgbClr val="0D4F82"/>
              </a:solidFill>
              <a:latin typeface="Calibri" panose="020F0502020204030204" pitchFamily="34" charset="0"/>
              <a:cs typeface="Calibri" panose="020F0502020204030204" pitchFamily="34" charset="0"/>
            </a:endParaRPr>
          </a:p>
        </p:txBody>
      </p:sp>
      <p:pic>
        <p:nvPicPr>
          <p:cNvPr id="9" name="Picture 8"/>
          <p:cNvPicPr>
            <a:picLocks noChangeAspect="1"/>
          </p:cNvPicPr>
          <p:nvPr/>
        </p:nvPicPr>
        <p:blipFill>
          <a:blip r:embed="rId1"/>
          <a:stretch>
            <a:fillRect/>
          </a:stretch>
        </p:blipFill>
        <p:spPr>
          <a:xfrm>
            <a:off x="502920" y="800735"/>
            <a:ext cx="11354435" cy="57423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548640"/>
            <a:ext cx="3291840" cy="1371600"/>
          </a:xfrm>
          <a:prstGeom prst="rect">
            <a:avLst/>
          </a:prstGeom>
          <a:noFill/>
        </p:spPr>
        <p:txBody>
          <a:bodyPr wrap="square" rtlCol="0" anchor="ctr"/>
          <a:lstStyle/>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a:t>
            </a:r>
            <a:endParaRPr lang="en-US" sz="3200" dirty="0"/>
          </a:p>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SOLUTION</a:t>
            </a:r>
            <a:endParaRPr lang="en-US" sz="3200" dirty="0"/>
          </a:p>
        </p:txBody>
      </p:sp>
      <p:sp>
        <p:nvSpPr>
          <p:cNvPr id="25" name="Text Box 24"/>
          <p:cNvSpPr txBox="1"/>
          <p:nvPr/>
        </p:nvSpPr>
        <p:spPr>
          <a:xfrm>
            <a:off x="2197100" y="205105"/>
            <a:ext cx="7112000" cy="429895"/>
          </a:xfrm>
          <a:prstGeom prst="rect">
            <a:avLst/>
          </a:prstGeom>
          <a:noFill/>
        </p:spPr>
        <p:txBody>
          <a:bodyPr wrap="square" rtlCol="0" anchor="t">
            <a:spAutoFit/>
          </a:bodyPr>
          <a:p>
            <a:pPr algn="ctr"/>
            <a:r>
              <a:rPr lang="en-US" sz="2200" b="1">
                <a:solidFill>
                  <a:srgbClr val="0D4F82"/>
                </a:solidFill>
                <a:latin typeface="Calibri" panose="020F0502020204030204" pitchFamily="34" charset="0"/>
                <a:cs typeface="Calibri" panose="020F0502020204030204" pitchFamily="34" charset="0"/>
              </a:rPr>
              <a:t>EXCEL EXPORT DATA VIEW </a:t>
            </a:r>
            <a:endParaRPr lang="en-US" sz="2200" b="1">
              <a:solidFill>
                <a:srgbClr val="0D4F82"/>
              </a:solidFill>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1"/>
          <a:stretch>
            <a:fillRect/>
          </a:stretch>
        </p:blipFill>
        <p:spPr>
          <a:xfrm>
            <a:off x="240030" y="793115"/>
            <a:ext cx="11584940" cy="58680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3" name="Text 1"/>
          <p:cNvSpPr/>
          <p:nvPr/>
        </p:nvSpPr>
        <p:spPr>
          <a:xfrm>
            <a:off x="70485" y="314960"/>
            <a:ext cx="4248785" cy="815975"/>
          </a:xfrm>
          <a:prstGeom prst="rect">
            <a:avLst/>
          </a:prstGeom>
          <a:noFill/>
        </p:spPr>
        <p:txBody>
          <a:bodyPr wrap="square" rtlCol="0" anchor="ctr"/>
          <a:lstStyle/>
          <a:p>
            <a:pPr marL="0" indent="0">
              <a:lnSpc>
                <a:spcPts val="3600"/>
              </a:lnSpc>
              <a:buNone/>
            </a:pPr>
            <a:r>
              <a:rPr lang="en-US" alt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ENTER DATA MANUALLY</a:t>
            </a:r>
            <a:endParaRPr lang="en-US" alt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a:p>
            <a:pPr marL="0" indent="0">
              <a:lnSpc>
                <a:spcPts val="3600"/>
              </a:lnSpc>
              <a:buNone/>
            </a:pPr>
            <a:endParaRPr lang="en-US" alt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02920" y="1234440"/>
            <a:ext cx="914400" cy="914400"/>
          </a:xfrm>
          <a:prstGeom prst="roundRect">
            <a:avLst>
              <a:gd name="adj" fmla="val 10000"/>
            </a:avLst>
          </a:prstGeom>
          <a:solidFill>
            <a:srgbClr val="E3A93E"/>
          </a:solidFill>
        </p:spPr>
      </p:sp>
      <p:sp>
        <p:nvSpPr>
          <p:cNvPr id="5" name="Text 3"/>
          <p:cNvSpPr/>
          <p:nvPr/>
        </p:nvSpPr>
        <p:spPr>
          <a:xfrm>
            <a:off x="502920" y="12344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502920" y="2148840"/>
            <a:ext cx="3383280" cy="2512695"/>
          </a:xfrm>
          <a:prstGeom prst="rect">
            <a:avLst/>
          </a:prstGeom>
          <a:noFill/>
        </p:spPr>
        <p:txBody>
          <a:bodyPr wrap="square" rtlCol="0" anchor="ctr"/>
          <a:lstStyle/>
          <a:p>
            <a:pPr marL="0" indent="0">
              <a:lnSpc>
                <a:spcPct val="100000"/>
              </a:lnSpc>
              <a:buNone/>
            </a:pPr>
            <a:r>
              <a:rPr lang="en-US" alt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rPr>
              <a:t>Manual Data Capture</a:t>
            </a:r>
            <a:endParaRPr lang="en-US" alt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endParaRPr>
          </a:p>
          <a:p>
            <a:pPr marL="0" indent="0">
              <a:lnSpc>
                <a:spcPct val="100000"/>
              </a:lnSpc>
              <a:buNone/>
            </a:pPr>
            <a:endParaRPr lang="en-US" alt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endParaRPr>
          </a:p>
        </p:txBody>
      </p:sp>
      <p:sp>
        <p:nvSpPr>
          <p:cNvPr id="25" name="Text Box 24"/>
          <p:cNvSpPr txBox="1"/>
          <p:nvPr/>
        </p:nvSpPr>
        <p:spPr>
          <a:xfrm>
            <a:off x="4572000" y="78105"/>
            <a:ext cx="7112000" cy="429895"/>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sym typeface="+mn-ea"/>
              </a:rPr>
              <a:t>STEP 1: SELECT DATA ENTRY OPTION </a:t>
            </a:r>
            <a:endParaRPr 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655185" y="508000"/>
            <a:ext cx="7112000" cy="291465"/>
          </a:xfrm>
          <a:prstGeom prst="rect">
            <a:avLst/>
          </a:prstGeom>
          <a:noFill/>
        </p:spPr>
        <p:txBody>
          <a:bodyPr wrap="square" rtlCol="0" anchor="t">
            <a:spAutoFit/>
          </a:bodyPr>
          <a:p>
            <a:r>
              <a:rPr lang="en-US" sz="1300">
                <a:solidFill>
                  <a:srgbClr val="333333"/>
                </a:solidFill>
                <a:latin typeface="Calibri" panose="020F0502020204030204" pitchFamily="34" charset="0"/>
                <a:cs typeface="Calibri" panose="020F0502020204030204" pitchFamily="34" charset="0"/>
                <a:sym typeface="+mn-ea"/>
              </a:rPr>
              <a:t>Staff selects their desired data capture option. In this case Enter Data Manually.  </a:t>
            </a:r>
            <a:endParaRPr lang="en-US" sz="1300">
              <a:solidFill>
                <a:srgbClr val="333333"/>
              </a:solidFill>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1"/>
          <a:stretch>
            <a:fillRect/>
          </a:stretch>
        </p:blipFill>
        <p:spPr>
          <a:xfrm>
            <a:off x="6038215" y="818515"/>
            <a:ext cx="3398520" cy="60998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3" name="Text 1"/>
          <p:cNvSpPr/>
          <p:nvPr/>
        </p:nvSpPr>
        <p:spPr>
          <a:xfrm>
            <a:off x="502920" y="548640"/>
            <a:ext cx="3291840" cy="815975"/>
          </a:xfrm>
          <a:prstGeom prst="rect">
            <a:avLst/>
          </a:prstGeom>
          <a:noFill/>
        </p:spPr>
        <p:txBody>
          <a:bodyPr wrap="square" rtlCol="0" anchor="ctr"/>
          <a:lstStyle/>
          <a:p>
            <a:pPr marL="0" indent="0">
              <a:lnSpc>
                <a:spcPts val="3600"/>
              </a:lnSpc>
              <a:buNone/>
            </a:pPr>
            <a:r>
              <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SCAN ID OPTION </a:t>
            </a: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a:p>
            <a:pPr marL="0" indent="0">
              <a:lnSpc>
                <a:spcPts val="3600"/>
              </a:lnSpc>
              <a:buNone/>
            </a:pP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02920" y="1234440"/>
            <a:ext cx="914400" cy="914400"/>
          </a:xfrm>
          <a:prstGeom prst="roundRect">
            <a:avLst>
              <a:gd name="adj" fmla="val 10000"/>
            </a:avLst>
          </a:prstGeom>
          <a:solidFill>
            <a:srgbClr val="E3A93E"/>
          </a:solidFill>
        </p:spPr>
      </p:sp>
      <p:sp>
        <p:nvSpPr>
          <p:cNvPr id="5" name="Text 3"/>
          <p:cNvSpPr/>
          <p:nvPr/>
        </p:nvSpPr>
        <p:spPr>
          <a:xfrm>
            <a:off x="502920" y="12344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502920" y="2066290"/>
            <a:ext cx="3383280" cy="2512695"/>
          </a:xfrm>
          <a:prstGeom prst="rect">
            <a:avLst/>
          </a:prstGeom>
          <a:noFill/>
        </p:spPr>
        <p:txBody>
          <a:bodyPr wrap="square" rtlCol="0" anchor="ctr"/>
          <a:lstStyle/>
          <a:p>
            <a:pPr marL="0" indent="0">
              <a:lnSpc>
                <a:spcPct val="100000"/>
              </a:lnSpc>
              <a:buNone/>
            </a:pPr>
            <a:r>
              <a:rPr lang="en-US" alt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sym typeface="+mn-ea"/>
              </a:rPr>
              <a:t>Manual Data Capture</a:t>
            </a:r>
            <a:endParaRPr lang="en-US" sz="4000" dirty="0"/>
          </a:p>
        </p:txBody>
      </p:sp>
      <p:sp>
        <p:nvSpPr>
          <p:cNvPr id="25" name="Text Box 24"/>
          <p:cNvSpPr txBox="1"/>
          <p:nvPr/>
        </p:nvSpPr>
        <p:spPr>
          <a:xfrm>
            <a:off x="4572000" y="0"/>
            <a:ext cx="7112000" cy="1106805"/>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rPr>
              <a:t>STEP 2: </a:t>
            </a:r>
            <a:r>
              <a:rPr lang="en-US" altLang="en-US" sz="2200" b="1">
                <a:solidFill>
                  <a:srgbClr val="0D4F82"/>
                </a:solidFill>
                <a:latin typeface="Calibri" panose="020F0502020204030204" pitchFamily="34" charset="0"/>
                <a:cs typeface="Calibri" panose="020F0502020204030204" pitchFamily="34" charset="0"/>
              </a:rPr>
              <a:t>STAFF REVIEW &amp; CONFIRM</a:t>
            </a:r>
            <a:endParaRPr lang="en-US" altLang="en-US" sz="2200" b="1">
              <a:solidFill>
                <a:srgbClr val="0D4F82"/>
              </a:solidFill>
              <a:latin typeface="Calibri" panose="020F0502020204030204" pitchFamily="34" charset="0"/>
              <a:cs typeface="Calibri" panose="020F0502020204030204" pitchFamily="34" charset="0"/>
            </a:endParaRPr>
          </a:p>
          <a:p>
            <a:endParaRPr lang="en-US" altLang="en-US" sz="2200" b="1">
              <a:solidFill>
                <a:srgbClr val="0D4F82"/>
              </a:solidFill>
              <a:latin typeface="Calibri" panose="020F0502020204030204" pitchFamily="34" charset="0"/>
              <a:cs typeface="Calibri" panose="020F0502020204030204" pitchFamily="34" charset="0"/>
            </a:endParaRPr>
          </a:p>
          <a:p>
            <a:endParaRPr lang="en-US" alt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572000" y="508000"/>
            <a:ext cx="7112000" cy="491490"/>
          </a:xfrm>
          <a:prstGeom prst="rect">
            <a:avLst/>
          </a:prstGeom>
          <a:noFill/>
        </p:spPr>
        <p:txBody>
          <a:bodyPr wrap="square" rtlCol="0" anchor="t">
            <a:spAutoFit/>
          </a:bodyPr>
          <a:p>
            <a:r>
              <a:rPr lang="en-US" altLang="en-US" sz="1300">
                <a:solidFill>
                  <a:srgbClr val="333333"/>
                </a:solidFill>
                <a:latin typeface="Calibri" panose="020F0502020204030204" pitchFamily="34" charset="0"/>
                <a:cs typeface="Calibri" panose="020F0502020204030204" pitchFamily="34" charset="0"/>
              </a:rPr>
              <a:t>Staff verify the data, and save record.</a:t>
            </a:r>
            <a:endParaRPr lang="en-US" altLang="en-US" sz="1300">
              <a:solidFill>
                <a:srgbClr val="333333"/>
              </a:solidFill>
              <a:latin typeface="Calibri" panose="020F0502020204030204" pitchFamily="34" charset="0"/>
              <a:cs typeface="Calibri" panose="020F0502020204030204" pitchFamily="34" charset="0"/>
            </a:endParaRPr>
          </a:p>
          <a:p>
            <a:endParaRPr lang="en-US" altLang="en-US" sz="1300">
              <a:solidFill>
                <a:srgbClr val="333333"/>
              </a:solidFill>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1"/>
          <a:stretch>
            <a:fillRect/>
          </a:stretch>
        </p:blipFill>
        <p:spPr>
          <a:xfrm>
            <a:off x="6287770" y="969010"/>
            <a:ext cx="3279140" cy="58889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sp>
      <p:sp>
        <p:nvSpPr>
          <p:cNvPr id="3" name="Text 1"/>
          <p:cNvSpPr/>
          <p:nvPr/>
        </p:nvSpPr>
        <p:spPr>
          <a:xfrm>
            <a:off x="502920" y="548640"/>
            <a:ext cx="3291840" cy="815975"/>
          </a:xfrm>
          <a:prstGeom prst="rect">
            <a:avLst/>
          </a:prstGeom>
          <a:noFill/>
        </p:spPr>
        <p:txBody>
          <a:bodyPr wrap="square" rtlCol="0" anchor="ctr"/>
          <a:lstStyle/>
          <a:p>
            <a:pPr marL="0" indent="0">
              <a:lnSpc>
                <a:spcPts val="3600"/>
              </a:lnSpc>
              <a:buNone/>
            </a:pPr>
            <a:r>
              <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SCAN ID OPTION </a:t>
            </a: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a:p>
            <a:pPr marL="0" indent="0">
              <a:lnSpc>
                <a:spcPts val="3600"/>
              </a:lnSpc>
              <a:buNone/>
            </a:pPr>
            <a:endParaRPr lang="en-US" alt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502920" y="1234440"/>
            <a:ext cx="914400" cy="914400"/>
          </a:xfrm>
          <a:prstGeom prst="roundRect">
            <a:avLst>
              <a:gd name="adj" fmla="val 10000"/>
            </a:avLst>
          </a:prstGeom>
          <a:solidFill>
            <a:srgbClr val="E3A93E"/>
          </a:solidFill>
        </p:spPr>
      </p:sp>
      <p:sp>
        <p:nvSpPr>
          <p:cNvPr id="5" name="Text 3"/>
          <p:cNvSpPr/>
          <p:nvPr/>
        </p:nvSpPr>
        <p:spPr>
          <a:xfrm>
            <a:off x="502920" y="1234440"/>
            <a:ext cx="914400" cy="91440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502920" y="2066290"/>
            <a:ext cx="3383280" cy="2512695"/>
          </a:xfrm>
          <a:prstGeom prst="rect">
            <a:avLst/>
          </a:prstGeom>
          <a:noFill/>
        </p:spPr>
        <p:txBody>
          <a:bodyPr wrap="square" rtlCol="0" anchor="ctr"/>
          <a:lstStyle/>
          <a:p>
            <a:pPr marL="0" indent="0">
              <a:lnSpc>
                <a:spcPct val="100000"/>
              </a:lnSpc>
              <a:buNone/>
            </a:pPr>
            <a:r>
              <a:rPr lang="en-US" altLang="en-US" sz="4000" b="1" dirty="0">
                <a:solidFill>
                  <a:srgbClr val="E3A93E"/>
                </a:solidFill>
                <a:latin typeface="Cambria" panose="02040503050406030204" pitchFamily="34" charset="0"/>
                <a:ea typeface="Cambria" panose="02040503050406030204" pitchFamily="34" charset="-122"/>
                <a:cs typeface="Cambria" panose="02040503050406030204" pitchFamily="34" charset="-120"/>
                <a:sym typeface="+mn-ea"/>
              </a:rPr>
              <a:t>Manual Data Capture</a:t>
            </a:r>
            <a:endParaRPr lang="en-US" sz="4000" dirty="0"/>
          </a:p>
        </p:txBody>
      </p:sp>
      <p:sp>
        <p:nvSpPr>
          <p:cNvPr id="25" name="Text Box 24"/>
          <p:cNvSpPr txBox="1"/>
          <p:nvPr/>
        </p:nvSpPr>
        <p:spPr>
          <a:xfrm>
            <a:off x="4572000" y="234950"/>
            <a:ext cx="7112000" cy="768350"/>
          </a:xfrm>
          <a:prstGeom prst="rect">
            <a:avLst/>
          </a:prstGeom>
          <a:noFill/>
        </p:spPr>
        <p:txBody>
          <a:bodyPr wrap="square" rtlCol="0" anchor="t">
            <a:spAutoFit/>
          </a:bodyPr>
          <a:p>
            <a:r>
              <a:rPr lang="en-US" sz="2200" b="1">
                <a:solidFill>
                  <a:srgbClr val="0D4F82"/>
                </a:solidFill>
                <a:latin typeface="Calibri" panose="020F0502020204030204" pitchFamily="34" charset="0"/>
                <a:cs typeface="Calibri" panose="020F0502020204030204" pitchFamily="34" charset="0"/>
                <a:sym typeface="+mn-ea"/>
              </a:rPr>
              <a:t>STEP 3: OFFLINE RECORDS &amp; EXCEL EXPORT</a:t>
            </a:r>
            <a:endParaRPr lang="en-US" sz="2200" b="1">
              <a:solidFill>
                <a:srgbClr val="0D4F82"/>
              </a:solidFill>
              <a:latin typeface="Calibri" panose="020F0502020204030204" pitchFamily="34" charset="0"/>
              <a:cs typeface="Calibri" panose="020F0502020204030204" pitchFamily="34" charset="0"/>
            </a:endParaRPr>
          </a:p>
          <a:p>
            <a:endParaRPr lang="en-US" altLang="en-US" sz="2200" b="1">
              <a:solidFill>
                <a:srgbClr val="0D4F82"/>
              </a:solidFill>
              <a:latin typeface="Calibri" panose="020F0502020204030204" pitchFamily="34" charset="0"/>
              <a:cs typeface="Calibri" panose="020F0502020204030204" pitchFamily="34" charset="0"/>
            </a:endParaRPr>
          </a:p>
        </p:txBody>
      </p:sp>
      <p:sp>
        <p:nvSpPr>
          <p:cNvPr id="26" name="Text Box 25"/>
          <p:cNvSpPr txBox="1"/>
          <p:nvPr/>
        </p:nvSpPr>
        <p:spPr>
          <a:xfrm>
            <a:off x="4572000" y="742950"/>
            <a:ext cx="7112000" cy="283210"/>
          </a:xfrm>
          <a:prstGeom prst="rect">
            <a:avLst/>
          </a:prstGeom>
          <a:noFill/>
        </p:spPr>
        <p:txBody>
          <a:bodyPr wrap="square" rtlCol="0" anchor="t">
            <a:spAutoFit/>
          </a:bodyPr>
          <a:p>
            <a:pPr marL="0" indent="0">
              <a:lnSpc>
                <a:spcPts val="1500"/>
              </a:lnSpc>
              <a:buNone/>
            </a:pPr>
            <a:r>
              <a:rPr lang="en-US" sz="1300" dirty="0">
                <a:solidFill>
                  <a:srgbClr val="5B6472"/>
                </a:solidFill>
                <a:latin typeface="Calibri" panose="020F0502020204030204" pitchFamily="34" charset="0"/>
                <a:ea typeface="Calibri" panose="020F0502020204030204" pitchFamily="34" charset="-122"/>
                <a:cs typeface="Calibri" panose="020F0502020204030204" pitchFamily="34" charset="-120"/>
                <a:sym typeface="+mn-ea"/>
              </a:rPr>
              <a:t>All entered records export instantly as a formatted .xlsx file, ready for upload to bulk registraiton.</a:t>
            </a:r>
            <a:endParaRPr lang="en-US" altLang="en-US" sz="1300">
              <a:solidFill>
                <a:srgbClr val="333333"/>
              </a:solidFill>
              <a:latin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1"/>
          <a:stretch>
            <a:fillRect/>
          </a:stretch>
        </p:blipFill>
        <p:spPr>
          <a:xfrm>
            <a:off x="4994275" y="1377315"/>
            <a:ext cx="5855970" cy="48806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548640"/>
            <a:ext cx="3291840" cy="1371600"/>
          </a:xfrm>
          <a:prstGeom prst="rect">
            <a:avLst/>
          </a:prstGeom>
          <a:noFill/>
        </p:spPr>
        <p:txBody>
          <a:bodyPr wrap="square" rtlCol="0" anchor="ctr"/>
          <a:lstStyle/>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a:t>
            </a:r>
            <a:endParaRPr lang="en-US" sz="3200" dirty="0"/>
          </a:p>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SOLUTION</a:t>
            </a:r>
            <a:endParaRPr lang="en-US" sz="3200" dirty="0"/>
          </a:p>
        </p:txBody>
      </p:sp>
      <p:sp>
        <p:nvSpPr>
          <p:cNvPr id="25" name="Text Box 24"/>
          <p:cNvSpPr txBox="1"/>
          <p:nvPr/>
        </p:nvSpPr>
        <p:spPr>
          <a:xfrm>
            <a:off x="2197100" y="205105"/>
            <a:ext cx="7112000" cy="429895"/>
          </a:xfrm>
          <a:prstGeom prst="rect">
            <a:avLst/>
          </a:prstGeom>
          <a:noFill/>
        </p:spPr>
        <p:txBody>
          <a:bodyPr wrap="square" rtlCol="0" anchor="t">
            <a:spAutoFit/>
          </a:bodyPr>
          <a:p>
            <a:pPr algn="ctr"/>
            <a:r>
              <a:rPr lang="en-US" sz="2200" b="1">
                <a:solidFill>
                  <a:srgbClr val="0D4F82"/>
                </a:solidFill>
                <a:latin typeface="Calibri" panose="020F0502020204030204" pitchFamily="34" charset="0"/>
                <a:cs typeface="Calibri" panose="020F0502020204030204" pitchFamily="34" charset="0"/>
              </a:rPr>
              <a:t>EXCEL EXPORT DATA VIEW </a:t>
            </a:r>
            <a:endParaRPr lang="en-US" sz="2200" b="1">
              <a:solidFill>
                <a:srgbClr val="0D4F82"/>
              </a:solidFill>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1"/>
          <a:stretch>
            <a:fillRect/>
          </a:stretch>
        </p:blipFill>
        <p:spPr>
          <a:xfrm>
            <a:off x="123825" y="635000"/>
            <a:ext cx="11995150" cy="60826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548640"/>
            <a:ext cx="3291840" cy="1371600"/>
          </a:xfrm>
          <a:prstGeom prst="rect">
            <a:avLst/>
          </a:prstGeom>
          <a:noFill/>
        </p:spPr>
        <p:txBody>
          <a:bodyPr wrap="square" rtlCol="0" anchor="ctr"/>
          <a:lstStyle/>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a:t>
            </a:r>
            <a:endParaRPr lang="en-US" sz="3200" dirty="0"/>
          </a:p>
          <a:p>
            <a:pPr marL="0" indent="0">
              <a:lnSpc>
                <a:spcPts val="3600"/>
              </a:lnSpc>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SOLUTION</a:t>
            </a:r>
            <a:endParaRPr lang="en-US" sz="3200" dirty="0"/>
          </a:p>
        </p:txBody>
      </p:sp>
      <p:sp>
        <p:nvSpPr>
          <p:cNvPr id="25" name="Text Box 24"/>
          <p:cNvSpPr txBox="1"/>
          <p:nvPr/>
        </p:nvSpPr>
        <p:spPr>
          <a:xfrm>
            <a:off x="2197100" y="205105"/>
            <a:ext cx="7112000" cy="429895"/>
          </a:xfrm>
          <a:prstGeom prst="rect">
            <a:avLst/>
          </a:prstGeom>
          <a:noFill/>
        </p:spPr>
        <p:txBody>
          <a:bodyPr wrap="square" rtlCol="0" anchor="t">
            <a:spAutoFit/>
          </a:bodyPr>
          <a:p>
            <a:pPr algn="ctr"/>
            <a:r>
              <a:rPr lang="en-US" sz="2200" b="1">
                <a:solidFill>
                  <a:srgbClr val="0D4F82"/>
                </a:solidFill>
                <a:latin typeface="Calibri" panose="020F0502020204030204" pitchFamily="34" charset="0"/>
                <a:cs typeface="Calibri" panose="020F0502020204030204" pitchFamily="34" charset="0"/>
              </a:rPr>
              <a:t>EXCEL EXPORT DATA VIEW </a:t>
            </a:r>
            <a:endParaRPr lang="en-US" sz="2200" b="1">
              <a:solidFill>
                <a:srgbClr val="0D4F82"/>
              </a:solidFill>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149225" y="678180"/>
            <a:ext cx="11892915" cy="60458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0E3A63"/>
          </a:solidFill>
        </p:spPr>
      </p:sp>
      <p:sp>
        <p:nvSpPr>
          <p:cNvPr id="3" name="Text 1"/>
          <p:cNvSpPr/>
          <p:nvPr/>
        </p:nvSpPr>
        <p:spPr>
          <a:xfrm>
            <a:off x="548640" y="502920"/>
            <a:ext cx="5486400" cy="365760"/>
          </a:xfrm>
          <a:prstGeom prst="rect">
            <a:avLst/>
          </a:prstGeom>
          <a:noFill/>
        </p:spPr>
        <p:txBody>
          <a:bodyPr wrap="square" rtlCol="0" anchor="ctr"/>
          <a:lstStyle/>
          <a:p>
            <a:pPr marL="0" indent="0">
              <a:buNone/>
            </a:pPr>
            <a:r>
              <a:rPr lang="en-US" sz="2800" b="1"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rPr>
              <a:t>KEY  BENEFITS</a:t>
            </a:r>
            <a:endParaRPr lang="en-US" sz="2800" b="1"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548640" y="1691640"/>
            <a:ext cx="3429000" cy="1371600"/>
          </a:xfrm>
          <a:prstGeom prst="roundRect">
            <a:avLst>
              <a:gd name="adj" fmla="val 5333"/>
            </a:avLst>
          </a:prstGeom>
          <a:solidFill>
            <a:srgbClr val="0E3A63"/>
          </a:solidFill>
        </p:spPr>
      </p:sp>
      <p:sp>
        <p:nvSpPr>
          <p:cNvPr id="5" name="Text 3"/>
          <p:cNvSpPr/>
          <p:nvPr/>
        </p:nvSpPr>
        <p:spPr>
          <a:xfrm>
            <a:off x="548640" y="1828800"/>
            <a:ext cx="3429000" cy="640080"/>
          </a:xfrm>
          <a:prstGeom prst="rect">
            <a:avLst/>
          </a:prstGeom>
          <a:noFill/>
        </p:spPr>
        <p:txBody>
          <a:bodyPr wrap="square" lIns="0" tIns="0" rIns="0" bIns="0" rtlCol="0" anchor="ctr"/>
          <a:lstStyle/>
          <a:p>
            <a:pPr marL="0" indent="0" algn="ctr">
              <a:buNone/>
            </a:pPr>
            <a:r>
              <a:rPr lang="en-US" sz="3200" b="1" dirty="0">
                <a:solidFill>
                  <a:srgbClr val="E3A93E"/>
                </a:solidFill>
                <a:latin typeface="Cambria" panose="02040503050406030204" pitchFamily="34" charset="0"/>
                <a:ea typeface="Cambria" panose="02040503050406030204" pitchFamily="34" charset="-122"/>
                <a:cs typeface="Cambria" panose="02040503050406030204" pitchFamily="34" charset="-120"/>
              </a:rPr>
              <a:t>↓ 90%</a:t>
            </a:r>
            <a:endParaRPr lang="en-US" sz="3200" dirty="0"/>
          </a:p>
        </p:txBody>
      </p:sp>
      <p:sp>
        <p:nvSpPr>
          <p:cNvPr id="6" name="Text 4"/>
          <p:cNvSpPr/>
          <p:nvPr/>
        </p:nvSpPr>
        <p:spPr>
          <a:xfrm>
            <a:off x="548640" y="2468880"/>
            <a:ext cx="3429000" cy="548640"/>
          </a:xfrm>
          <a:prstGeom prst="rect">
            <a:avLst/>
          </a:prstGeom>
          <a:noFill/>
        </p:spPr>
        <p:txBody>
          <a:bodyPr wrap="square" lIns="0" tIns="0" rIns="0" bIns="0" rtlCol="0" anchor="ctr"/>
          <a:lstStyle/>
          <a:p>
            <a:pPr marL="0" indent="0" algn="ctr">
              <a:lnSpc>
                <a:spcPts val="1400"/>
              </a:lnSpc>
              <a:buNone/>
            </a:pPr>
            <a:r>
              <a:rPr lang="en-US" sz="1600" dirty="0">
                <a:solidFill>
                  <a:srgbClr val="D6E0EC"/>
                </a:solidFill>
                <a:latin typeface="Calibri" panose="020F0502020204030204" pitchFamily="34" charset="0"/>
                <a:ea typeface="Calibri" panose="020F0502020204030204" pitchFamily="34" charset="-122"/>
                <a:cs typeface="Calibri" panose="020F0502020204030204" pitchFamily="34" charset="-120"/>
              </a:rPr>
              <a:t>Manual</a:t>
            </a:r>
            <a:endParaRPr lang="en-US" sz="1600" dirty="0"/>
          </a:p>
          <a:p>
            <a:pPr marL="0" indent="0" algn="ctr">
              <a:lnSpc>
                <a:spcPts val="1400"/>
              </a:lnSpc>
              <a:buNone/>
            </a:pPr>
            <a:r>
              <a:rPr lang="en-US" sz="1600" dirty="0">
                <a:solidFill>
                  <a:srgbClr val="D6E0EC"/>
                </a:solidFill>
                <a:latin typeface="Calibri" panose="020F0502020204030204" pitchFamily="34" charset="0"/>
                <a:ea typeface="Calibri" panose="020F0502020204030204" pitchFamily="34" charset="-122"/>
                <a:cs typeface="Calibri" panose="020F0502020204030204" pitchFamily="34" charset="-120"/>
              </a:rPr>
              <a:t>data entry</a:t>
            </a:r>
            <a:endParaRPr lang="en-US" sz="1600" dirty="0"/>
          </a:p>
        </p:txBody>
      </p:sp>
      <p:sp>
        <p:nvSpPr>
          <p:cNvPr id="7" name="Shape 5"/>
          <p:cNvSpPr/>
          <p:nvPr/>
        </p:nvSpPr>
        <p:spPr>
          <a:xfrm>
            <a:off x="4297680" y="1691640"/>
            <a:ext cx="3429000" cy="1371600"/>
          </a:xfrm>
          <a:prstGeom prst="roundRect">
            <a:avLst>
              <a:gd name="adj" fmla="val 5333"/>
            </a:avLst>
          </a:prstGeom>
          <a:solidFill>
            <a:srgbClr val="0E3A63"/>
          </a:solidFill>
        </p:spPr>
      </p:sp>
      <p:sp>
        <p:nvSpPr>
          <p:cNvPr id="8" name="Text 6"/>
          <p:cNvSpPr/>
          <p:nvPr/>
        </p:nvSpPr>
        <p:spPr>
          <a:xfrm>
            <a:off x="4297680" y="1828800"/>
            <a:ext cx="3429000" cy="640080"/>
          </a:xfrm>
          <a:prstGeom prst="rect">
            <a:avLst/>
          </a:prstGeom>
          <a:noFill/>
        </p:spPr>
        <p:txBody>
          <a:bodyPr wrap="square" lIns="0" tIns="0" rIns="0" bIns="0" rtlCol="0" anchor="ctr"/>
          <a:lstStyle/>
          <a:p>
            <a:pPr marL="0" indent="0" algn="ctr">
              <a:buNone/>
            </a:pPr>
            <a:r>
              <a:rPr lang="en-US" sz="3200" b="1" dirty="0">
                <a:solidFill>
                  <a:srgbClr val="E3A93E"/>
                </a:solidFill>
                <a:latin typeface="Cambria" panose="02040503050406030204" pitchFamily="34" charset="0"/>
                <a:ea typeface="Cambria" panose="02040503050406030204" pitchFamily="34" charset="-122"/>
                <a:cs typeface="Cambria" panose="02040503050406030204" pitchFamily="34" charset="-120"/>
              </a:rPr>
              <a:t>↑ 3×</a:t>
            </a:r>
            <a:endParaRPr lang="en-US" sz="3200" dirty="0"/>
          </a:p>
        </p:txBody>
      </p:sp>
      <p:sp>
        <p:nvSpPr>
          <p:cNvPr id="9" name="Text 7"/>
          <p:cNvSpPr/>
          <p:nvPr/>
        </p:nvSpPr>
        <p:spPr>
          <a:xfrm>
            <a:off x="4297680" y="2468880"/>
            <a:ext cx="3429000" cy="548640"/>
          </a:xfrm>
          <a:prstGeom prst="rect">
            <a:avLst/>
          </a:prstGeom>
          <a:noFill/>
        </p:spPr>
        <p:txBody>
          <a:bodyPr wrap="square" lIns="0" tIns="0" rIns="0" bIns="0" rtlCol="0" anchor="ctr"/>
          <a:lstStyle/>
          <a:p>
            <a:pPr marL="0" indent="0" algn="ctr">
              <a:lnSpc>
                <a:spcPts val="1400"/>
              </a:lnSpc>
              <a:buNone/>
            </a:pPr>
            <a:r>
              <a:rPr lang="en-US" sz="1600" dirty="0">
                <a:solidFill>
                  <a:srgbClr val="D6E0EC"/>
                </a:solidFill>
                <a:latin typeface="Calibri" panose="020F0502020204030204" pitchFamily="34" charset="0"/>
                <a:ea typeface="Calibri" panose="020F0502020204030204" pitchFamily="34" charset="-122"/>
                <a:cs typeface="Calibri" panose="020F0502020204030204" pitchFamily="34" charset="-120"/>
              </a:rPr>
              <a:t>Members</a:t>
            </a:r>
            <a:endParaRPr lang="en-US" sz="1600" dirty="0"/>
          </a:p>
          <a:p>
            <a:pPr marL="0" indent="0" algn="ctr">
              <a:lnSpc>
                <a:spcPts val="1400"/>
              </a:lnSpc>
              <a:buNone/>
            </a:pPr>
            <a:r>
              <a:rPr lang="en-US" sz="1600" dirty="0">
                <a:solidFill>
                  <a:srgbClr val="D6E0EC"/>
                </a:solidFill>
                <a:latin typeface="Calibri" panose="020F0502020204030204" pitchFamily="34" charset="0"/>
                <a:ea typeface="Calibri" panose="020F0502020204030204" pitchFamily="34" charset="-122"/>
                <a:cs typeface="Calibri" panose="020F0502020204030204" pitchFamily="34" charset="-120"/>
              </a:rPr>
              <a:t>per session</a:t>
            </a:r>
            <a:endParaRPr lang="en-US" sz="1600" dirty="0"/>
          </a:p>
        </p:txBody>
      </p:sp>
      <p:sp>
        <p:nvSpPr>
          <p:cNvPr id="10" name="Shape 8"/>
          <p:cNvSpPr/>
          <p:nvPr/>
        </p:nvSpPr>
        <p:spPr>
          <a:xfrm>
            <a:off x="8046720" y="1691640"/>
            <a:ext cx="3429000" cy="1371600"/>
          </a:xfrm>
          <a:prstGeom prst="roundRect">
            <a:avLst>
              <a:gd name="adj" fmla="val 5333"/>
            </a:avLst>
          </a:prstGeom>
          <a:solidFill>
            <a:srgbClr val="0E3A63"/>
          </a:solidFill>
        </p:spPr>
      </p:sp>
      <p:sp>
        <p:nvSpPr>
          <p:cNvPr id="11" name="Text 9"/>
          <p:cNvSpPr/>
          <p:nvPr/>
        </p:nvSpPr>
        <p:spPr>
          <a:xfrm>
            <a:off x="8046720" y="1828800"/>
            <a:ext cx="3429000" cy="640080"/>
          </a:xfrm>
          <a:prstGeom prst="rect">
            <a:avLst/>
          </a:prstGeom>
          <a:noFill/>
        </p:spPr>
        <p:txBody>
          <a:bodyPr wrap="square" lIns="0" tIns="0" rIns="0" bIns="0" rtlCol="0" anchor="ctr"/>
          <a:lstStyle/>
          <a:p>
            <a:pPr marL="0" indent="0" algn="ctr">
              <a:buNone/>
            </a:pPr>
            <a:r>
              <a:rPr lang="en-US" sz="3200" b="1" dirty="0">
                <a:solidFill>
                  <a:srgbClr val="E3A93E"/>
                </a:solidFill>
                <a:latin typeface="Cambria" panose="02040503050406030204" pitchFamily="34" charset="0"/>
                <a:ea typeface="Cambria" panose="02040503050406030204" pitchFamily="34" charset="-122"/>
                <a:cs typeface="Cambria" panose="02040503050406030204" pitchFamily="34" charset="-120"/>
              </a:rPr>
              <a:t>0</a:t>
            </a:r>
            <a:endParaRPr lang="en-US" sz="3200" dirty="0"/>
          </a:p>
        </p:txBody>
      </p:sp>
      <p:sp>
        <p:nvSpPr>
          <p:cNvPr id="12" name="Text 10"/>
          <p:cNvSpPr/>
          <p:nvPr/>
        </p:nvSpPr>
        <p:spPr>
          <a:xfrm>
            <a:off x="8046720" y="2468880"/>
            <a:ext cx="3429000" cy="548640"/>
          </a:xfrm>
          <a:prstGeom prst="rect">
            <a:avLst/>
          </a:prstGeom>
          <a:noFill/>
        </p:spPr>
        <p:txBody>
          <a:bodyPr wrap="square" lIns="0" tIns="0" rIns="0" bIns="0" rtlCol="0" anchor="ctr"/>
          <a:lstStyle/>
          <a:p>
            <a:pPr marL="0" indent="0" algn="ctr">
              <a:lnSpc>
                <a:spcPts val="1400"/>
              </a:lnSpc>
              <a:buNone/>
            </a:pPr>
            <a:r>
              <a:rPr lang="en-US" sz="1600" dirty="0">
                <a:solidFill>
                  <a:srgbClr val="D6E0EC"/>
                </a:solidFill>
                <a:latin typeface="Calibri" panose="020F0502020204030204" pitchFamily="34" charset="0"/>
                <a:ea typeface="Calibri" panose="020F0502020204030204" pitchFamily="34" charset="-122"/>
                <a:cs typeface="Calibri" panose="020F0502020204030204" pitchFamily="34" charset="-120"/>
              </a:rPr>
              <a:t>Internet</a:t>
            </a:r>
            <a:endParaRPr lang="en-US" sz="1600" dirty="0"/>
          </a:p>
          <a:p>
            <a:pPr marL="0" indent="0" algn="ctr">
              <a:lnSpc>
                <a:spcPts val="1400"/>
              </a:lnSpc>
              <a:buNone/>
            </a:pPr>
            <a:r>
              <a:rPr lang="en-US" sz="1600" dirty="0">
                <a:solidFill>
                  <a:srgbClr val="D6E0EC"/>
                </a:solidFill>
                <a:latin typeface="Calibri" panose="020F0502020204030204" pitchFamily="34" charset="0"/>
                <a:ea typeface="Calibri" panose="020F0502020204030204" pitchFamily="34" charset="-122"/>
                <a:cs typeface="Calibri" panose="020F0502020204030204" pitchFamily="34" charset="-120"/>
              </a:rPr>
              <a:t>required</a:t>
            </a:r>
            <a:endParaRPr lang="en-US" sz="1600" dirty="0"/>
          </a:p>
        </p:txBody>
      </p:sp>
      <p:sp>
        <p:nvSpPr>
          <p:cNvPr id="13" name="Shape 11"/>
          <p:cNvSpPr/>
          <p:nvPr/>
        </p:nvSpPr>
        <p:spPr>
          <a:xfrm>
            <a:off x="548640" y="3337560"/>
            <a:ext cx="5349240" cy="1417320"/>
          </a:xfrm>
          <a:prstGeom prst="roundRect">
            <a:avLst>
              <a:gd name="adj" fmla="val 5161"/>
            </a:avLst>
          </a:prstGeom>
          <a:solidFill>
            <a:srgbClr val="FFFFFF"/>
          </a:solidFill>
          <a:effectLst>
            <a:outerShdw blurRad="101600" dist="38100" dir="5400000" algn="bl" rotWithShape="0">
              <a:srgbClr val="1B2A41">
                <a:alpha val="15000"/>
              </a:srgbClr>
            </a:outerShdw>
          </a:effectLst>
        </p:spPr>
      </p:sp>
      <p:sp>
        <p:nvSpPr>
          <p:cNvPr id="14" name="Shape 12"/>
          <p:cNvSpPr/>
          <p:nvPr/>
        </p:nvSpPr>
        <p:spPr>
          <a:xfrm>
            <a:off x="777240" y="3657600"/>
            <a:ext cx="502920" cy="502920"/>
          </a:xfrm>
          <a:prstGeom prst="ellipse">
            <a:avLst/>
          </a:prstGeom>
          <a:solidFill>
            <a:srgbClr val="2E8B57"/>
          </a:solidFill>
        </p:spPr>
      </p:sp>
      <p:sp>
        <p:nvSpPr>
          <p:cNvPr id="15" name="Text 13"/>
          <p:cNvSpPr/>
          <p:nvPr/>
        </p:nvSpPr>
        <p:spPr>
          <a:xfrm>
            <a:off x="777240" y="3657600"/>
            <a:ext cx="502920" cy="502920"/>
          </a:xfrm>
          <a:prstGeom prst="rect">
            <a:avLst/>
          </a:prstGeom>
          <a:noFill/>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6" name="Text 14"/>
          <p:cNvSpPr/>
          <p:nvPr/>
        </p:nvSpPr>
        <p:spPr>
          <a:xfrm>
            <a:off x="1463040" y="3520440"/>
            <a:ext cx="4251960" cy="320040"/>
          </a:xfrm>
          <a:prstGeom prst="rect">
            <a:avLst/>
          </a:prstGeom>
          <a:noFill/>
        </p:spPr>
        <p:txBody>
          <a:bodyPr wrap="square" lIns="0" tIns="0" rIns="0" bIns="0" rtlCol="0" anchor="ctr"/>
          <a:lstStyle/>
          <a:p>
            <a:pPr marL="0" indent="0">
              <a:buNone/>
            </a:pPr>
            <a:r>
              <a:rPr lang="en-US" b="1" dirty="0">
                <a:solidFill>
                  <a:srgbClr val="1B2A41"/>
                </a:solidFill>
                <a:latin typeface="Calibri" panose="020F0502020204030204" pitchFamily="34" charset="0"/>
                <a:ea typeface="Calibri" panose="020F0502020204030204" pitchFamily="34" charset="-122"/>
                <a:cs typeface="Calibri" panose="020F0502020204030204" pitchFamily="34" charset="-120"/>
              </a:rPr>
              <a:t>Accurate Data, First Time</a:t>
            </a:r>
            <a:endParaRPr lang="en-US" dirty="0"/>
          </a:p>
        </p:txBody>
      </p:sp>
      <p:sp>
        <p:nvSpPr>
          <p:cNvPr id="17" name="Text 15"/>
          <p:cNvSpPr/>
          <p:nvPr/>
        </p:nvSpPr>
        <p:spPr>
          <a:xfrm>
            <a:off x="1463040" y="3867912"/>
            <a:ext cx="4251960" cy="822960"/>
          </a:xfrm>
          <a:prstGeom prst="rect">
            <a:avLst/>
          </a:prstGeom>
          <a:noFill/>
        </p:spPr>
        <p:txBody>
          <a:bodyPr wrap="square" lIns="0" tIns="0" rIns="0" bIns="0" rtlCol="0" anchor="ctr"/>
          <a:lstStyle/>
          <a:p>
            <a:pPr marL="0" indent="0">
              <a:lnSpc>
                <a:spcPts val="1300"/>
              </a:lnSpc>
              <a:buNone/>
            </a:pPr>
            <a:r>
              <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rPr>
              <a:t>OCR reads directly from the ID plus manual accurate data entry— eliminating handwriting misinterpretation and transcription errors on NINs, names and dates.</a:t>
            </a:r>
            <a:endPar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6217920" y="3337560"/>
            <a:ext cx="5349240" cy="1417320"/>
          </a:xfrm>
          <a:prstGeom prst="roundRect">
            <a:avLst>
              <a:gd name="adj" fmla="val 5161"/>
            </a:avLst>
          </a:prstGeom>
          <a:solidFill>
            <a:srgbClr val="FFFFFF"/>
          </a:solidFill>
          <a:effectLst>
            <a:outerShdw blurRad="101600" dist="38100" dir="5400000" algn="bl" rotWithShape="0">
              <a:srgbClr val="1B2A41">
                <a:alpha val="15000"/>
              </a:srgbClr>
            </a:outerShdw>
          </a:effectLst>
        </p:spPr>
      </p:sp>
      <p:sp>
        <p:nvSpPr>
          <p:cNvPr id="19" name="Shape 17"/>
          <p:cNvSpPr/>
          <p:nvPr/>
        </p:nvSpPr>
        <p:spPr>
          <a:xfrm>
            <a:off x="6446520" y="3657600"/>
            <a:ext cx="502920" cy="502920"/>
          </a:xfrm>
          <a:prstGeom prst="ellipse">
            <a:avLst/>
          </a:prstGeom>
          <a:solidFill>
            <a:srgbClr val="0E3A63"/>
          </a:solidFill>
        </p:spPr>
      </p:sp>
      <p:sp>
        <p:nvSpPr>
          <p:cNvPr id="20" name="Text 18"/>
          <p:cNvSpPr/>
          <p:nvPr/>
        </p:nvSpPr>
        <p:spPr>
          <a:xfrm>
            <a:off x="6446520" y="3657600"/>
            <a:ext cx="502920" cy="502920"/>
          </a:xfrm>
          <a:prstGeom prst="rect">
            <a:avLst/>
          </a:prstGeom>
          <a:noFill/>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1" name="Text 19"/>
          <p:cNvSpPr/>
          <p:nvPr/>
        </p:nvSpPr>
        <p:spPr>
          <a:xfrm>
            <a:off x="7132320" y="3520440"/>
            <a:ext cx="4251960" cy="320040"/>
          </a:xfrm>
          <a:prstGeom prst="rect">
            <a:avLst/>
          </a:prstGeom>
          <a:noFill/>
        </p:spPr>
        <p:txBody>
          <a:bodyPr wrap="square" lIns="0" tIns="0" rIns="0" bIns="0" rtlCol="0" anchor="ctr"/>
          <a:lstStyle/>
          <a:p>
            <a:pPr marL="0" indent="0">
              <a:buNone/>
            </a:pPr>
            <a:r>
              <a:rPr lang="en-US" b="1" dirty="0">
                <a:solidFill>
                  <a:srgbClr val="1B2A41"/>
                </a:solidFill>
                <a:latin typeface="Calibri" panose="020F0502020204030204" pitchFamily="34" charset="0"/>
                <a:ea typeface="Calibri" panose="020F0502020204030204" pitchFamily="34" charset="-122"/>
                <a:cs typeface="Calibri" panose="020F0502020204030204" pitchFamily="34" charset="-120"/>
              </a:rPr>
              <a:t>Secure &amp; Fully Offline</a:t>
            </a:r>
            <a:endParaRPr lang="en-US" dirty="0"/>
          </a:p>
        </p:txBody>
      </p:sp>
      <p:sp>
        <p:nvSpPr>
          <p:cNvPr id="22" name="Text 20"/>
          <p:cNvSpPr/>
          <p:nvPr/>
        </p:nvSpPr>
        <p:spPr>
          <a:xfrm>
            <a:off x="7132320" y="3867912"/>
            <a:ext cx="4251960" cy="822960"/>
          </a:xfrm>
          <a:prstGeom prst="rect">
            <a:avLst/>
          </a:prstGeom>
          <a:noFill/>
        </p:spPr>
        <p:txBody>
          <a:bodyPr wrap="square" lIns="0" tIns="0" rIns="0" bIns="0" rtlCol="0" anchor="ctr"/>
          <a:lstStyle/>
          <a:p>
            <a:pPr marL="0" indent="0">
              <a:lnSpc>
                <a:spcPts val="1300"/>
              </a:lnSpc>
              <a:buNone/>
            </a:pPr>
            <a:r>
              <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rPr>
              <a:t>No data leaves the device. The tool runs entirely on the user's machine with no cloud connection or external server involved.</a:t>
            </a:r>
            <a:endPar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nvSpPr>
        <p:spPr>
          <a:xfrm>
            <a:off x="548640" y="5029200"/>
            <a:ext cx="5349240" cy="1417320"/>
          </a:xfrm>
          <a:prstGeom prst="roundRect">
            <a:avLst>
              <a:gd name="adj" fmla="val 5161"/>
            </a:avLst>
          </a:prstGeom>
          <a:solidFill>
            <a:srgbClr val="FFFFFF"/>
          </a:solidFill>
          <a:effectLst>
            <a:outerShdw blurRad="101600" dist="38100" dir="5400000" algn="bl" rotWithShape="0">
              <a:srgbClr val="1B2A41">
                <a:alpha val="15000"/>
              </a:srgbClr>
            </a:outerShdw>
          </a:effectLst>
        </p:spPr>
      </p:sp>
      <p:sp>
        <p:nvSpPr>
          <p:cNvPr id="24" name="Shape 22"/>
          <p:cNvSpPr/>
          <p:nvPr/>
        </p:nvSpPr>
        <p:spPr>
          <a:xfrm>
            <a:off x="777240" y="5349240"/>
            <a:ext cx="502920" cy="502920"/>
          </a:xfrm>
          <a:prstGeom prst="ellipse">
            <a:avLst/>
          </a:prstGeom>
          <a:solidFill>
            <a:srgbClr val="2E8B57"/>
          </a:solidFill>
        </p:spPr>
      </p:sp>
      <p:sp>
        <p:nvSpPr>
          <p:cNvPr id="25" name="Text 23"/>
          <p:cNvSpPr/>
          <p:nvPr/>
        </p:nvSpPr>
        <p:spPr>
          <a:xfrm>
            <a:off x="777240" y="5349240"/>
            <a:ext cx="502920" cy="502920"/>
          </a:xfrm>
          <a:prstGeom prst="rect">
            <a:avLst/>
          </a:prstGeom>
          <a:noFill/>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6" name="Text 24"/>
          <p:cNvSpPr/>
          <p:nvPr/>
        </p:nvSpPr>
        <p:spPr>
          <a:xfrm>
            <a:off x="1463040" y="5212080"/>
            <a:ext cx="4251960" cy="320040"/>
          </a:xfrm>
          <a:prstGeom prst="rect">
            <a:avLst/>
          </a:prstGeom>
          <a:noFill/>
        </p:spPr>
        <p:txBody>
          <a:bodyPr wrap="square" lIns="0" tIns="0" rIns="0" bIns="0" rtlCol="0" anchor="ctr"/>
          <a:lstStyle/>
          <a:p>
            <a:pPr marL="0" indent="0">
              <a:buNone/>
            </a:pPr>
            <a:r>
              <a:rPr lang="en-US" b="1" dirty="0">
                <a:solidFill>
                  <a:srgbClr val="1B2A41"/>
                </a:solidFill>
                <a:latin typeface="Calibri" panose="020F0502020204030204" pitchFamily="34" charset="0"/>
                <a:ea typeface="Calibri" panose="020F0502020204030204" pitchFamily="34" charset="-122"/>
                <a:cs typeface="Calibri" panose="020F0502020204030204" pitchFamily="34" charset="-120"/>
              </a:rPr>
              <a:t>Instant Excel Export</a:t>
            </a:r>
            <a:endParaRPr lang="en-US" dirty="0"/>
          </a:p>
        </p:txBody>
      </p:sp>
      <p:sp>
        <p:nvSpPr>
          <p:cNvPr id="27" name="Text 25"/>
          <p:cNvSpPr/>
          <p:nvPr/>
        </p:nvSpPr>
        <p:spPr>
          <a:xfrm>
            <a:off x="1463040" y="5559552"/>
            <a:ext cx="4251960" cy="822960"/>
          </a:xfrm>
          <a:prstGeom prst="rect">
            <a:avLst/>
          </a:prstGeom>
          <a:noFill/>
        </p:spPr>
        <p:txBody>
          <a:bodyPr wrap="square" lIns="0" tIns="0" rIns="0" bIns="0" rtlCol="0" anchor="ctr"/>
          <a:lstStyle/>
          <a:p>
            <a:pPr marL="0" indent="0">
              <a:lnSpc>
                <a:spcPts val="1300"/>
              </a:lnSpc>
              <a:buNone/>
            </a:pPr>
            <a:r>
              <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rPr>
              <a:t>All records from a session export in one click to a formatted spreadsheet, ready for direct upload to the NSSF system.</a:t>
            </a:r>
            <a:endPar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6217920" y="5029200"/>
            <a:ext cx="5349240" cy="1417320"/>
          </a:xfrm>
          <a:prstGeom prst="roundRect">
            <a:avLst>
              <a:gd name="adj" fmla="val 5161"/>
            </a:avLst>
          </a:prstGeom>
          <a:solidFill>
            <a:srgbClr val="FFFFFF"/>
          </a:solidFill>
          <a:effectLst>
            <a:outerShdw blurRad="101600" dist="38100" dir="5400000" algn="bl" rotWithShape="0">
              <a:srgbClr val="1B2A41">
                <a:alpha val="15000"/>
              </a:srgbClr>
            </a:outerShdw>
          </a:effectLst>
        </p:spPr>
      </p:sp>
      <p:sp>
        <p:nvSpPr>
          <p:cNvPr id="29" name="Shape 27"/>
          <p:cNvSpPr/>
          <p:nvPr/>
        </p:nvSpPr>
        <p:spPr>
          <a:xfrm>
            <a:off x="6446520" y="5349240"/>
            <a:ext cx="502920" cy="502920"/>
          </a:xfrm>
          <a:prstGeom prst="ellipse">
            <a:avLst/>
          </a:prstGeom>
          <a:solidFill>
            <a:srgbClr val="C1622D"/>
          </a:solidFill>
        </p:spPr>
      </p:sp>
      <p:sp>
        <p:nvSpPr>
          <p:cNvPr id="30" name="Text 28"/>
          <p:cNvSpPr/>
          <p:nvPr/>
        </p:nvSpPr>
        <p:spPr>
          <a:xfrm>
            <a:off x="6446520" y="5349240"/>
            <a:ext cx="502920" cy="502920"/>
          </a:xfrm>
          <a:prstGeom prst="rect">
            <a:avLst/>
          </a:prstGeom>
          <a:noFill/>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31" name="Text 29"/>
          <p:cNvSpPr/>
          <p:nvPr/>
        </p:nvSpPr>
        <p:spPr>
          <a:xfrm>
            <a:off x="7132320" y="5212080"/>
            <a:ext cx="4251960" cy="320040"/>
          </a:xfrm>
          <a:prstGeom prst="rect">
            <a:avLst/>
          </a:prstGeom>
          <a:noFill/>
        </p:spPr>
        <p:txBody>
          <a:bodyPr wrap="square" lIns="0" tIns="0" rIns="0" bIns="0" rtlCol="0" anchor="ctr"/>
          <a:lstStyle/>
          <a:p>
            <a:pPr marL="0" indent="0">
              <a:buNone/>
            </a:pPr>
            <a:r>
              <a:rPr lang="en-US" b="1" dirty="0">
                <a:solidFill>
                  <a:srgbClr val="1B2A41"/>
                </a:solidFill>
                <a:latin typeface="Calibri" panose="020F0502020204030204" pitchFamily="34" charset="0"/>
                <a:ea typeface="Calibri" panose="020F0502020204030204" pitchFamily="34" charset="-122"/>
                <a:cs typeface="Calibri" panose="020F0502020204030204" pitchFamily="34" charset="-120"/>
              </a:rPr>
              <a:t>Works Anywhere — No Internet</a:t>
            </a:r>
            <a:endParaRPr lang="en-US" dirty="0"/>
          </a:p>
        </p:txBody>
      </p:sp>
      <p:sp>
        <p:nvSpPr>
          <p:cNvPr id="32" name="Text 30"/>
          <p:cNvSpPr/>
          <p:nvPr/>
        </p:nvSpPr>
        <p:spPr>
          <a:xfrm>
            <a:off x="7132320" y="5559552"/>
            <a:ext cx="4251960" cy="822960"/>
          </a:xfrm>
          <a:prstGeom prst="rect">
            <a:avLst/>
          </a:prstGeom>
          <a:noFill/>
        </p:spPr>
        <p:txBody>
          <a:bodyPr wrap="square" lIns="0" tIns="0" rIns="0" bIns="0" rtlCol="0" anchor="ctr"/>
          <a:lstStyle/>
          <a:p>
            <a:pPr marL="0" indent="0">
              <a:lnSpc>
                <a:spcPts val="1300"/>
              </a:lnSpc>
              <a:buNone/>
            </a:pPr>
            <a:r>
              <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rPr>
              <a:t>Designed for field conditions. The app runs offline in remote areas, market drives or locations with no reliable data signal.</a:t>
            </a:r>
            <a:endParaRPr lang="en-US" sz="1400"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p:spPr>
        <p:txBody>
          <a:bodyPr wrap="square" rtlCol="0" anchor="ctr"/>
          <a:lstStyle/>
          <a:p>
            <a:pPr marL="0" indent="0">
              <a:buNone/>
            </a:pPr>
            <a:r>
              <a:rPr lang="en-US" sz="2800" b="1" dirty="0">
                <a:solidFill>
                  <a:srgbClr val="0E3A63"/>
                </a:solidFill>
                <a:latin typeface="Cambria" panose="02040503050406030204" pitchFamily="34" charset="0"/>
                <a:ea typeface="Cambria" panose="02040503050406030204" pitchFamily="34" charset="-122"/>
                <a:cs typeface="Cambria" panose="02040503050406030204" pitchFamily="34" charset="-120"/>
              </a:rPr>
              <a:t>Before vs. After</a:t>
            </a:r>
            <a:endParaRPr lang="en-US" sz="28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sz="1600" i="1" dirty="0">
                <a:solidFill>
                  <a:srgbClr val="5B6472"/>
                </a:solidFill>
                <a:latin typeface="Calibri" panose="020F0502020204030204" pitchFamily="34" charset="0"/>
                <a:ea typeface="Calibri" panose="020F0502020204030204" pitchFamily="34" charset="-122"/>
                <a:cs typeface="Calibri" panose="020F0502020204030204" pitchFamily="34" charset="-120"/>
              </a:rPr>
              <a:t>The same enrolment drive — two very different outcomes.</a:t>
            </a:r>
            <a:endParaRPr lang="en-US" sz="1600" dirty="0"/>
          </a:p>
        </p:txBody>
      </p:sp>
      <p:sp>
        <p:nvSpPr>
          <p:cNvPr id="4" name="Shape 2"/>
          <p:cNvSpPr/>
          <p:nvPr/>
        </p:nvSpPr>
        <p:spPr>
          <a:xfrm>
            <a:off x="548640" y="1554480"/>
            <a:ext cx="4892040" cy="4480560"/>
          </a:xfrm>
          <a:prstGeom prst="roundRect">
            <a:avLst>
              <a:gd name="adj" fmla="val 1633"/>
            </a:avLst>
          </a:prstGeom>
          <a:solidFill>
            <a:srgbClr val="F4F0EC"/>
          </a:solidFill>
          <a:ln w="12700">
            <a:solidFill>
              <a:srgbClr val="E3D9CE"/>
            </a:solidFill>
            <a:prstDash val="solid"/>
          </a:ln>
        </p:spPr>
      </p:sp>
      <p:sp>
        <p:nvSpPr>
          <p:cNvPr id="5" name="Text 3"/>
          <p:cNvSpPr/>
          <p:nvPr/>
        </p:nvSpPr>
        <p:spPr>
          <a:xfrm>
            <a:off x="822960" y="1783080"/>
            <a:ext cx="4343400" cy="320040"/>
          </a:xfrm>
          <a:prstGeom prst="rect">
            <a:avLst/>
          </a:prstGeom>
          <a:noFill/>
        </p:spPr>
        <p:txBody>
          <a:bodyPr wrap="square" rtlCol="0" anchor="ctr"/>
          <a:lstStyle/>
          <a:p>
            <a:pPr marL="0" indent="0">
              <a:buNone/>
            </a:pPr>
            <a:r>
              <a:rPr lang="en-US" sz="1600" b="1" kern="0" spc="100" dirty="0">
                <a:solidFill>
                  <a:srgbClr val="C1622D"/>
                </a:solidFill>
                <a:latin typeface="Calibri" panose="020F0502020204030204" pitchFamily="34" charset="0"/>
                <a:ea typeface="Calibri" panose="020F0502020204030204" pitchFamily="34" charset="-122"/>
                <a:cs typeface="Calibri" panose="020F0502020204030204" pitchFamily="34" charset="-120"/>
              </a:rPr>
              <a:t>BEFORE</a:t>
            </a:r>
            <a:endParaRPr lang="en-US" sz="1600" dirty="0"/>
          </a:p>
        </p:txBody>
      </p:sp>
      <p:sp>
        <p:nvSpPr>
          <p:cNvPr id="6" name="Text 4"/>
          <p:cNvSpPr/>
          <p:nvPr/>
        </p:nvSpPr>
        <p:spPr>
          <a:xfrm>
            <a:off x="822960" y="2240280"/>
            <a:ext cx="4343400" cy="502920"/>
          </a:xfrm>
          <a:prstGeom prst="rect">
            <a:avLst/>
          </a:prstGeom>
          <a:noFill/>
        </p:spPr>
        <p:txBody>
          <a:bodyPr wrap="square" rtlCol="0" anchor="t"/>
          <a:lstStyle/>
          <a:p>
            <a:pPr marL="0" indent="0">
              <a:lnSpc>
                <a:spcPts val="1400"/>
              </a:lnSpc>
              <a:buNone/>
            </a:pPr>
            <a:r>
              <a:rPr lang="en-US" sz="1500" dirty="0">
                <a:solidFill>
                  <a:srgbClr val="1B2A41"/>
                </a:solidFill>
                <a:latin typeface="Calibri" panose="020F0502020204030204" pitchFamily="34" charset="0"/>
                <a:ea typeface="Calibri" panose="020F0502020204030204" pitchFamily="34" charset="-122"/>
                <a:cs typeface="Calibri" panose="020F0502020204030204" pitchFamily="34" charset="-120"/>
              </a:rPr>
              <a:t>•  Staff copy NINs by hand from physical cards</a:t>
            </a:r>
            <a:endParaRPr lang="en-US" sz="1500" dirty="0"/>
          </a:p>
        </p:txBody>
      </p:sp>
      <p:sp>
        <p:nvSpPr>
          <p:cNvPr id="7" name="Text 5"/>
          <p:cNvSpPr/>
          <p:nvPr/>
        </p:nvSpPr>
        <p:spPr>
          <a:xfrm>
            <a:off x="822960" y="2788920"/>
            <a:ext cx="4343400" cy="502920"/>
          </a:xfrm>
          <a:prstGeom prst="rect">
            <a:avLst/>
          </a:prstGeom>
          <a:noFill/>
        </p:spPr>
        <p:txBody>
          <a:bodyPr wrap="square" rtlCol="0" anchor="t"/>
          <a:lstStyle/>
          <a:p>
            <a:pPr marL="0" indent="0">
              <a:lnSpc>
                <a:spcPts val="1400"/>
              </a:lnSpc>
              <a:buNone/>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  Frequent transcription errors on names &amp; numbers</a:t>
            </a:r>
            <a:endParaRPr lang="en-US" sz="1600" dirty="0"/>
          </a:p>
        </p:txBody>
      </p:sp>
      <p:sp>
        <p:nvSpPr>
          <p:cNvPr id="8" name="Text 6"/>
          <p:cNvSpPr/>
          <p:nvPr/>
        </p:nvSpPr>
        <p:spPr>
          <a:xfrm>
            <a:off x="822960" y="3337560"/>
            <a:ext cx="4343400" cy="502920"/>
          </a:xfrm>
          <a:prstGeom prst="rect">
            <a:avLst/>
          </a:prstGeom>
          <a:noFill/>
        </p:spPr>
        <p:txBody>
          <a:bodyPr wrap="square" rtlCol="0" anchor="t"/>
          <a:lstStyle/>
          <a:p>
            <a:pPr marL="0" indent="0">
              <a:lnSpc>
                <a:spcPts val="1400"/>
              </a:lnSpc>
              <a:buNone/>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  Illegible handwriting causes rejected records</a:t>
            </a:r>
            <a:endParaRPr lang="en-US" sz="1600" dirty="0"/>
          </a:p>
        </p:txBody>
      </p:sp>
      <p:sp>
        <p:nvSpPr>
          <p:cNvPr id="9" name="Text 7"/>
          <p:cNvSpPr/>
          <p:nvPr/>
        </p:nvSpPr>
        <p:spPr>
          <a:xfrm>
            <a:off x="822960" y="3886200"/>
            <a:ext cx="4343400" cy="502920"/>
          </a:xfrm>
          <a:prstGeom prst="rect">
            <a:avLst/>
          </a:prstGeom>
          <a:noFill/>
        </p:spPr>
        <p:txBody>
          <a:bodyPr wrap="square" rtlCol="0" anchor="t"/>
          <a:lstStyle/>
          <a:p>
            <a:pPr marL="0" indent="0">
              <a:lnSpc>
                <a:spcPts val="1400"/>
              </a:lnSpc>
              <a:buNone/>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  Missing fields require follow-up calls to members</a:t>
            </a:r>
            <a:endParaRPr lang="en-US" sz="1600" dirty="0"/>
          </a:p>
        </p:txBody>
      </p:sp>
      <p:sp>
        <p:nvSpPr>
          <p:cNvPr id="10" name="Text 8"/>
          <p:cNvSpPr/>
          <p:nvPr/>
        </p:nvSpPr>
        <p:spPr>
          <a:xfrm>
            <a:off x="822960" y="4434840"/>
            <a:ext cx="4343400" cy="502920"/>
          </a:xfrm>
          <a:prstGeom prst="rect">
            <a:avLst/>
          </a:prstGeom>
          <a:noFill/>
        </p:spPr>
        <p:txBody>
          <a:bodyPr wrap="square" rtlCol="0" anchor="t"/>
          <a:lstStyle/>
          <a:p>
            <a:pPr marL="0" indent="0">
              <a:lnSpc>
                <a:spcPts val="1400"/>
              </a:lnSpc>
              <a:buNone/>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  Manual data entry into spreadsheets takes hours</a:t>
            </a:r>
            <a:endParaRPr lang="en-US" sz="1600" dirty="0"/>
          </a:p>
        </p:txBody>
      </p:sp>
      <p:sp>
        <p:nvSpPr>
          <p:cNvPr id="11" name="Text 9"/>
          <p:cNvSpPr/>
          <p:nvPr/>
        </p:nvSpPr>
        <p:spPr>
          <a:xfrm>
            <a:off x="822960" y="4983480"/>
            <a:ext cx="4343400" cy="502920"/>
          </a:xfrm>
          <a:prstGeom prst="rect">
            <a:avLst/>
          </a:prstGeom>
          <a:noFill/>
        </p:spPr>
        <p:txBody>
          <a:bodyPr wrap="square" rtlCol="0" anchor="t"/>
          <a:lstStyle/>
          <a:p>
            <a:pPr marL="0" indent="0">
              <a:lnSpc>
                <a:spcPts val="1400"/>
              </a:lnSpc>
              <a:buNone/>
            </a:pPr>
            <a:r>
              <a:rPr lang="en-US" sz="1600" dirty="0">
                <a:solidFill>
                  <a:srgbClr val="1B2A41"/>
                </a:solidFill>
                <a:latin typeface="Calibri" panose="020F0502020204030204" pitchFamily="34" charset="0"/>
                <a:ea typeface="Calibri" panose="020F0502020204030204" pitchFamily="34" charset="-122"/>
                <a:cs typeface="Calibri" panose="020F0502020204030204" pitchFamily="34" charset="-120"/>
              </a:rPr>
              <a:t>•  Data quality checks delay onboarding by days</a:t>
            </a:r>
            <a:endParaRPr lang="en-US" sz="1600" dirty="0"/>
          </a:p>
        </p:txBody>
      </p:sp>
      <p:sp>
        <p:nvSpPr>
          <p:cNvPr id="12" name="Shape 10"/>
          <p:cNvSpPr/>
          <p:nvPr/>
        </p:nvSpPr>
        <p:spPr>
          <a:xfrm>
            <a:off x="5623560" y="3474720"/>
            <a:ext cx="822960" cy="640080"/>
          </a:xfrm>
          <a:prstGeom prst="rightArrow">
            <a:avLst/>
          </a:prstGeom>
          <a:solidFill>
            <a:srgbClr val="E3A93E"/>
          </a:solidFill>
        </p:spPr>
      </p:sp>
      <p:sp>
        <p:nvSpPr>
          <p:cNvPr id="13" name="Shape 11"/>
          <p:cNvSpPr/>
          <p:nvPr/>
        </p:nvSpPr>
        <p:spPr>
          <a:xfrm>
            <a:off x="6629400" y="1554480"/>
            <a:ext cx="4892040" cy="4480560"/>
          </a:xfrm>
          <a:prstGeom prst="roundRect">
            <a:avLst>
              <a:gd name="adj" fmla="val 1633"/>
            </a:avLst>
          </a:prstGeom>
          <a:solidFill>
            <a:srgbClr val="0E3A63"/>
          </a:solidFill>
        </p:spPr>
        <p:txBody>
          <a:bodyPr/>
          <a:p>
            <a:endParaRPr lang="en-US"/>
          </a:p>
        </p:txBody>
      </p:sp>
      <p:sp>
        <p:nvSpPr>
          <p:cNvPr id="14" name="Text 12"/>
          <p:cNvSpPr/>
          <p:nvPr/>
        </p:nvSpPr>
        <p:spPr>
          <a:xfrm>
            <a:off x="6903720" y="1783080"/>
            <a:ext cx="4343400" cy="320040"/>
          </a:xfrm>
          <a:prstGeom prst="rect">
            <a:avLst/>
          </a:prstGeom>
          <a:noFill/>
        </p:spPr>
        <p:txBody>
          <a:bodyPr wrap="square" rtlCol="0" anchor="ctr"/>
          <a:lstStyle/>
          <a:p>
            <a:pPr marL="0" indent="0">
              <a:buNone/>
            </a:pPr>
            <a:r>
              <a:rPr lang="en-US" sz="1600" b="1"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rPr>
              <a:t>AFTER</a:t>
            </a:r>
            <a:endParaRPr lang="en-US" sz="1600" dirty="0"/>
          </a:p>
        </p:txBody>
      </p:sp>
      <p:sp>
        <p:nvSpPr>
          <p:cNvPr id="15" name="Text 13"/>
          <p:cNvSpPr/>
          <p:nvPr/>
        </p:nvSpPr>
        <p:spPr>
          <a:xfrm>
            <a:off x="6903720" y="2240280"/>
            <a:ext cx="4343400" cy="502920"/>
          </a:xfrm>
          <a:prstGeom prst="rect">
            <a:avLst/>
          </a:prstGeom>
          <a:noFill/>
        </p:spPr>
        <p:txBody>
          <a:bodyPr wrap="square" rtlCol="0" anchor="t"/>
          <a:lstStyle/>
          <a:p>
            <a:pPr marL="0" indent="0">
              <a:lnSpc>
                <a:spcPts val="1400"/>
              </a:lnSpc>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  Staff photograph the ID — no typing required</a:t>
            </a:r>
            <a:endParaRPr lang="en-US" sz="1500" dirty="0"/>
          </a:p>
        </p:txBody>
      </p:sp>
      <p:sp>
        <p:nvSpPr>
          <p:cNvPr id="16" name="Text 14"/>
          <p:cNvSpPr/>
          <p:nvPr/>
        </p:nvSpPr>
        <p:spPr>
          <a:xfrm>
            <a:off x="6903720" y="2788920"/>
            <a:ext cx="4343400" cy="502920"/>
          </a:xfrm>
          <a:prstGeom prst="rect">
            <a:avLst/>
          </a:prstGeom>
          <a:noFill/>
        </p:spPr>
        <p:txBody>
          <a:bodyPr wrap="square" rtlCol="0" anchor="t"/>
          <a:lstStyle/>
          <a:p>
            <a:pPr marL="0" indent="0">
              <a:lnSpc>
                <a:spcPts val="1400"/>
              </a:lnSpc>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  OCR reads NIN, names, DOB and location instantly</a:t>
            </a:r>
            <a:endParaRPr lang="en-US" sz="1500" dirty="0"/>
          </a:p>
        </p:txBody>
      </p:sp>
      <p:sp>
        <p:nvSpPr>
          <p:cNvPr id="17" name="Text 15"/>
          <p:cNvSpPr/>
          <p:nvPr/>
        </p:nvSpPr>
        <p:spPr>
          <a:xfrm>
            <a:off x="6903720" y="3337560"/>
            <a:ext cx="4343400" cy="502920"/>
          </a:xfrm>
          <a:prstGeom prst="rect">
            <a:avLst/>
          </a:prstGeom>
          <a:noFill/>
        </p:spPr>
        <p:txBody>
          <a:bodyPr wrap="square" rtlCol="0" anchor="t"/>
          <a:lstStyle/>
          <a:p>
            <a:pPr marL="0" indent="0">
              <a:lnSpc>
                <a:spcPts val="1400"/>
              </a:lnSpc>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  Form pre-fills automatically for staff to confirm</a:t>
            </a:r>
            <a:endParaRPr lang="en-US" sz="1500" dirty="0"/>
          </a:p>
        </p:txBody>
      </p:sp>
      <p:sp>
        <p:nvSpPr>
          <p:cNvPr id="18" name="Text 16"/>
          <p:cNvSpPr/>
          <p:nvPr/>
        </p:nvSpPr>
        <p:spPr>
          <a:xfrm>
            <a:off x="6903720" y="3886200"/>
            <a:ext cx="4343400" cy="502920"/>
          </a:xfrm>
          <a:prstGeom prst="rect">
            <a:avLst/>
          </a:prstGeom>
          <a:noFill/>
        </p:spPr>
        <p:txBody>
          <a:bodyPr wrap="square" rtlCol="0" anchor="t"/>
          <a:lstStyle/>
          <a:p>
            <a:pPr marL="0" indent="0">
              <a:lnSpc>
                <a:spcPts val="1400"/>
              </a:lnSpc>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  Phone number added manually — all other fields auto</a:t>
            </a:r>
            <a:endParaRPr lang="en-US" sz="1500" dirty="0"/>
          </a:p>
        </p:txBody>
      </p:sp>
      <p:sp>
        <p:nvSpPr>
          <p:cNvPr id="19" name="Text 17"/>
          <p:cNvSpPr/>
          <p:nvPr/>
        </p:nvSpPr>
        <p:spPr>
          <a:xfrm>
            <a:off x="6903720" y="4434840"/>
            <a:ext cx="4343400" cy="502920"/>
          </a:xfrm>
          <a:prstGeom prst="rect">
            <a:avLst/>
          </a:prstGeom>
          <a:noFill/>
        </p:spPr>
        <p:txBody>
          <a:bodyPr wrap="square" rtlCol="0" anchor="t"/>
          <a:lstStyle/>
          <a:p>
            <a:pPr marL="0" indent="0">
              <a:lnSpc>
                <a:spcPts val="1400"/>
              </a:lnSpc>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  One click exports all records to a clean Excel file</a:t>
            </a:r>
            <a:endParaRPr lang="en-US" sz="1500" dirty="0"/>
          </a:p>
        </p:txBody>
      </p:sp>
      <p:sp>
        <p:nvSpPr>
          <p:cNvPr id="20" name="Text 18"/>
          <p:cNvSpPr/>
          <p:nvPr/>
        </p:nvSpPr>
        <p:spPr>
          <a:xfrm>
            <a:off x="6903720" y="4983480"/>
            <a:ext cx="4343400" cy="502920"/>
          </a:xfrm>
          <a:prstGeom prst="rect">
            <a:avLst/>
          </a:prstGeom>
          <a:noFill/>
        </p:spPr>
        <p:txBody>
          <a:bodyPr wrap="square" rtlCol="0" anchor="t"/>
          <a:lstStyle/>
          <a:p>
            <a:pPr marL="0" indent="0">
              <a:lnSpc>
                <a:spcPts val="1400"/>
              </a:lnSpc>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  Data is accurate and ready for upload same day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3A63"/>
        </a:solidFill>
        <a:effectLst/>
      </p:bgPr>
    </p:bg>
    <p:spTree>
      <p:nvGrpSpPr>
        <p:cNvPr id="1" name=""/>
        <p:cNvGrpSpPr/>
        <p:nvPr/>
      </p:nvGrpSpPr>
      <p:grpSpPr>
        <a:xfrm>
          <a:off x="0" y="0"/>
          <a:ext cx="0" cy="0"/>
          <a:chOff x="0" y="0"/>
          <a:chExt cx="0" cy="0"/>
        </a:xfrm>
      </p:grpSpPr>
      <p:sp>
        <p:nvSpPr>
          <p:cNvPr id="2" name="Text 0"/>
          <p:cNvSpPr/>
          <p:nvPr/>
        </p:nvSpPr>
        <p:spPr>
          <a:xfrm>
            <a:off x="548640" y="731520"/>
            <a:ext cx="9144000" cy="73152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Ready for Deployment</a:t>
            </a:r>
            <a:endParaRPr lang="en-US" sz="3400" dirty="0"/>
          </a:p>
        </p:txBody>
      </p:sp>
      <p:sp>
        <p:nvSpPr>
          <p:cNvPr id="3" name="Text 1"/>
          <p:cNvSpPr/>
          <p:nvPr/>
        </p:nvSpPr>
        <p:spPr>
          <a:xfrm>
            <a:off x="548640" y="1417320"/>
            <a:ext cx="8686800" cy="548640"/>
          </a:xfrm>
          <a:prstGeom prst="rect">
            <a:avLst/>
          </a:prstGeom>
          <a:noFill/>
        </p:spPr>
        <p:txBody>
          <a:bodyPr wrap="square" rtlCol="0" anchor="ctr"/>
          <a:lstStyle/>
          <a:p>
            <a:pPr marL="0" indent="0">
              <a:lnSpc>
                <a:spcPts val="1900"/>
              </a:lnSpc>
              <a:buNone/>
            </a:pPr>
            <a:r>
              <a:rPr lang="en-US" sz="1500" i="1" dirty="0">
                <a:solidFill>
                  <a:srgbClr val="E3A93E"/>
                </a:solidFill>
                <a:latin typeface="Cambria" panose="02040503050406030204" pitchFamily="34" charset="0"/>
                <a:ea typeface="Cambria" panose="02040503050406030204" pitchFamily="34" charset="-122"/>
                <a:cs typeface="Cambria" panose="02040503050406030204" pitchFamily="34" charset="-120"/>
              </a:rPr>
              <a:t>The tool is built, currently in testing and ready for a pilot run across field enrolment teams.</a:t>
            </a:r>
            <a:endParaRPr lang="en-US" sz="1500" dirty="0"/>
          </a:p>
        </p:txBody>
      </p:sp>
      <p:sp>
        <p:nvSpPr>
          <p:cNvPr id="4" name="Shape 2"/>
          <p:cNvSpPr/>
          <p:nvPr/>
        </p:nvSpPr>
        <p:spPr>
          <a:xfrm>
            <a:off x="594360" y="2377440"/>
            <a:ext cx="365760" cy="365760"/>
          </a:xfrm>
          <a:prstGeom prst="ellipse">
            <a:avLst/>
          </a:prstGeom>
          <a:solidFill>
            <a:srgbClr val="E3A93E"/>
          </a:solidFill>
        </p:spPr>
      </p:sp>
      <p:sp>
        <p:nvSpPr>
          <p:cNvPr id="5" name="Text 3"/>
          <p:cNvSpPr/>
          <p:nvPr/>
        </p:nvSpPr>
        <p:spPr>
          <a:xfrm>
            <a:off x="594360" y="2377440"/>
            <a:ext cx="365760" cy="365760"/>
          </a:xfrm>
          <a:prstGeom prst="rect">
            <a:avLst/>
          </a:prstGeom>
          <a:noFill/>
        </p:spPr>
        <p:txBody>
          <a:bodyPr wrap="square" lIns="0" tIns="0" rIns="0" bIns="0" rtlCol="0" anchor="ctr"/>
          <a:lstStyle/>
          <a:p>
            <a:pPr marL="0" indent="0" algn="ctr">
              <a:buNone/>
            </a:pPr>
            <a:r>
              <a:rPr lang="en-US" sz="1400" b="1" dirty="0">
                <a:solidFill>
                  <a:srgbClr val="0E3A63"/>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6" name="Text 4"/>
          <p:cNvSpPr/>
          <p:nvPr/>
        </p:nvSpPr>
        <p:spPr>
          <a:xfrm>
            <a:off x="1143000" y="2331720"/>
            <a:ext cx="9875520" cy="548640"/>
          </a:xfrm>
          <a:prstGeom prst="rect">
            <a:avLst/>
          </a:prstGeom>
          <a:noFill/>
        </p:spPr>
        <p:txBody>
          <a:bodyPr wrap="square" rtlCol="0" anchor="ctr"/>
          <a:lstStyle/>
          <a:p>
            <a:pPr marL="0" indent="0">
              <a:lnSpc>
                <a:spcPts val="1800"/>
              </a:lnSpc>
              <a:buNone/>
            </a:pPr>
            <a:r>
              <a:rPr lang="en-US" sz="1500" dirty="0">
                <a:solidFill>
                  <a:srgbClr val="E7EEF6"/>
                </a:solidFill>
                <a:latin typeface="Calibri" panose="020F0502020204030204" pitchFamily="34" charset="0"/>
                <a:ea typeface="Calibri" panose="020F0502020204030204" pitchFamily="34" charset="-122"/>
                <a:cs typeface="Calibri" panose="020F0502020204030204" pitchFamily="34" charset="-120"/>
              </a:rPr>
              <a:t>No installation required — runs directly in any web browser on a phone, tablet or laptop</a:t>
            </a:r>
            <a:endParaRPr lang="en-US" sz="1500" dirty="0"/>
          </a:p>
        </p:txBody>
      </p:sp>
      <p:sp>
        <p:nvSpPr>
          <p:cNvPr id="7" name="Shape 5"/>
          <p:cNvSpPr/>
          <p:nvPr/>
        </p:nvSpPr>
        <p:spPr>
          <a:xfrm>
            <a:off x="594360" y="3246120"/>
            <a:ext cx="365760" cy="365760"/>
          </a:xfrm>
          <a:prstGeom prst="ellipse">
            <a:avLst/>
          </a:prstGeom>
          <a:solidFill>
            <a:srgbClr val="E3A93E"/>
          </a:solidFill>
        </p:spPr>
      </p:sp>
      <p:sp>
        <p:nvSpPr>
          <p:cNvPr id="8" name="Text 6"/>
          <p:cNvSpPr/>
          <p:nvPr/>
        </p:nvSpPr>
        <p:spPr>
          <a:xfrm>
            <a:off x="594360" y="3246120"/>
            <a:ext cx="365760" cy="365760"/>
          </a:xfrm>
          <a:prstGeom prst="rect">
            <a:avLst/>
          </a:prstGeom>
          <a:noFill/>
        </p:spPr>
        <p:txBody>
          <a:bodyPr wrap="square" lIns="0" tIns="0" rIns="0" bIns="0" rtlCol="0" anchor="ctr"/>
          <a:lstStyle/>
          <a:p>
            <a:pPr marL="0" indent="0" algn="ctr">
              <a:buNone/>
            </a:pPr>
            <a:r>
              <a:rPr lang="en-US" sz="1400" b="1" dirty="0">
                <a:solidFill>
                  <a:srgbClr val="0E3A63"/>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9" name="Text 7"/>
          <p:cNvSpPr/>
          <p:nvPr/>
        </p:nvSpPr>
        <p:spPr>
          <a:xfrm>
            <a:off x="1143000" y="3200400"/>
            <a:ext cx="9875520" cy="548640"/>
          </a:xfrm>
          <a:prstGeom prst="rect">
            <a:avLst/>
          </a:prstGeom>
          <a:noFill/>
        </p:spPr>
        <p:txBody>
          <a:bodyPr wrap="square" rtlCol="0" anchor="ctr"/>
          <a:lstStyle/>
          <a:p>
            <a:pPr marL="0" indent="0">
              <a:lnSpc>
                <a:spcPts val="1800"/>
              </a:lnSpc>
              <a:buNone/>
            </a:pPr>
            <a:r>
              <a:rPr lang="en-US" sz="1500" dirty="0">
                <a:solidFill>
                  <a:srgbClr val="E7EEF6"/>
                </a:solidFill>
                <a:latin typeface="Calibri" panose="020F0502020204030204" pitchFamily="34" charset="0"/>
                <a:ea typeface="Calibri" panose="020F0502020204030204" pitchFamily="34" charset="-122"/>
                <a:cs typeface="Calibri" panose="020F0502020204030204" pitchFamily="34" charset="-120"/>
              </a:rPr>
              <a:t>Fully offline — no internet connection, external account or cloud service needed in the field</a:t>
            </a:r>
            <a:endParaRPr lang="en-US" sz="1500" dirty="0"/>
          </a:p>
        </p:txBody>
      </p:sp>
      <p:sp>
        <p:nvSpPr>
          <p:cNvPr id="10" name="Shape 8"/>
          <p:cNvSpPr/>
          <p:nvPr/>
        </p:nvSpPr>
        <p:spPr>
          <a:xfrm>
            <a:off x="594360" y="4114800"/>
            <a:ext cx="365760" cy="365760"/>
          </a:xfrm>
          <a:prstGeom prst="ellipse">
            <a:avLst/>
          </a:prstGeom>
          <a:solidFill>
            <a:srgbClr val="E3A93E"/>
          </a:solidFill>
        </p:spPr>
      </p:sp>
      <p:sp>
        <p:nvSpPr>
          <p:cNvPr id="11" name="Text 9"/>
          <p:cNvSpPr/>
          <p:nvPr/>
        </p:nvSpPr>
        <p:spPr>
          <a:xfrm>
            <a:off x="594360" y="4114800"/>
            <a:ext cx="365760" cy="365760"/>
          </a:xfrm>
          <a:prstGeom prst="rect">
            <a:avLst/>
          </a:prstGeom>
          <a:noFill/>
        </p:spPr>
        <p:txBody>
          <a:bodyPr wrap="square" lIns="0" tIns="0" rIns="0" bIns="0" rtlCol="0" anchor="ctr"/>
          <a:lstStyle/>
          <a:p>
            <a:pPr marL="0" indent="0" algn="ctr">
              <a:buNone/>
            </a:pPr>
            <a:r>
              <a:rPr lang="en-US" sz="1400" b="1" dirty="0">
                <a:solidFill>
                  <a:srgbClr val="0E3A63"/>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2" name="Text 10"/>
          <p:cNvSpPr/>
          <p:nvPr/>
        </p:nvSpPr>
        <p:spPr>
          <a:xfrm>
            <a:off x="1143000" y="4069080"/>
            <a:ext cx="9875520" cy="548640"/>
          </a:xfrm>
          <a:prstGeom prst="rect">
            <a:avLst/>
          </a:prstGeom>
          <a:noFill/>
        </p:spPr>
        <p:txBody>
          <a:bodyPr wrap="square" rtlCol="0" anchor="ctr"/>
          <a:lstStyle/>
          <a:p>
            <a:pPr marL="0" indent="0">
              <a:lnSpc>
                <a:spcPts val="1800"/>
              </a:lnSpc>
              <a:buNone/>
            </a:pPr>
            <a:r>
              <a:rPr lang="en-US" sz="1500" dirty="0">
                <a:solidFill>
                  <a:srgbClr val="E7EEF6"/>
                </a:solidFill>
                <a:latin typeface="Calibri" panose="020F0502020204030204" pitchFamily="34" charset="0"/>
                <a:ea typeface="Calibri" panose="020F0502020204030204" pitchFamily="34" charset="-122"/>
                <a:cs typeface="Calibri" panose="020F0502020204030204" pitchFamily="34" charset="-120"/>
              </a:rPr>
              <a:t>Field staff can be trained and actively collecting accurate member data within minutes of setup</a:t>
            </a:r>
            <a:endParaRPr lang="en-US" sz="1500" dirty="0"/>
          </a:p>
        </p:txBody>
      </p:sp>
      <p:sp>
        <p:nvSpPr>
          <p:cNvPr id="13" name="Shape 11"/>
          <p:cNvSpPr/>
          <p:nvPr/>
        </p:nvSpPr>
        <p:spPr>
          <a:xfrm>
            <a:off x="548640" y="5669280"/>
            <a:ext cx="10515600" cy="18288"/>
          </a:xfrm>
          <a:prstGeom prst="rect">
            <a:avLst/>
          </a:prstGeom>
          <a:solidFill>
            <a:srgbClr val="2E5A85"/>
          </a:solidFill>
        </p:spPr>
      </p:sp>
      <p:sp>
        <p:nvSpPr>
          <p:cNvPr id="14" name="Text 12"/>
          <p:cNvSpPr/>
          <p:nvPr/>
        </p:nvSpPr>
        <p:spPr>
          <a:xfrm>
            <a:off x="548640" y="5852160"/>
            <a:ext cx="9144000" cy="320040"/>
          </a:xfrm>
          <a:prstGeom prst="rect">
            <a:avLst/>
          </a:prstGeom>
          <a:noFill/>
        </p:spPr>
        <p:txBody>
          <a:bodyPr wrap="square" rtlCol="0" anchor="ctr"/>
          <a:lstStyle/>
          <a:p>
            <a:pPr marL="0" indent="0" algn="ctr">
              <a:buNone/>
            </a:pPr>
            <a:r>
              <a:rPr lang="en-US" sz="1000" dirty="0">
                <a:solidFill>
                  <a:srgbClr val="8FA5BC"/>
                </a:solidFill>
                <a:latin typeface="Calibri" panose="020F0502020204030204" pitchFamily="34" charset="0"/>
                <a:ea typeface="Calibri" panose="020F0502020204030204" pitchFamily="34" charset="-122"/>
                <a:cs typeface="Calibri" panose="020F0502020204030204" pitchFamily="34" charset="-120"/>
              </a:rPr>
              <a:t>NSSF SmartLife Flexi Enrolment  ·  Enterprise &amp; Growth Department  ·  2026</a:t>
            </a:r>
            <a:endParaRPr lang="en-US" sz="1000" dirty="0"/>
          </a:p>
        </p:txBody>
      </p:sp>
      <p:sp>
        <p:nvSpPr>
          <p:cNvPr id="15" name="Text 13"/>
          <p:cNvSpPr/>
          <p:nvPr/>
        </p:nvSpPr>
        <p:spPr>
          <a:xfrm>
            <a:off x="548640" y="6217920"/>
            <a:ext cx="10515600" cy="274320"/>
          </a:xfrm>
          <a:prstGeom prst="rect">
            <a:avLst/>
          </a:prstGeom>
          <a:noFill/>
        </p:spPr>
        <p:txBody>
          <a:bodyPr wrap="square" rtlCol="0" anchor="ctr"/>
          <a:lstStyle/>
          <a:p>
            <a:pPr marL="0" indent="0" algn="ctr">
              <a:buNone/>
            </a:pPr>
            <a:r>
              <a:rPr lang="en-US" sz="1000" kern="0" spc="200" dirty="0">
                <a:solidFill>
                  <a:srgbClr val="5D7793"/>
                </a:solidFill>
                <a:latin typeface="Calibri" panose="020F0502020204030204" pitchFamily="34" charset="0"/>
                <a:ea typeface="Calibri" panose="020F0502020204030204" pitchFamily="34" charset="-122"/>
                <a:cs typeface="Calibri" panose="020F0502020204030204" pitchFamily="34" charset="-120"/>
              </a:rPr>
              <a:t>N S S F</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E3A63"/>
          </a:solidFill>
        </p:spPr>
        <p:txBody>
          <a:bodyPr/>
          <a:p>
            <a:endParaRPr lang="en-US"/>
          </a:p>
        </p:txBody>
      </p:sp>
      <p:sp>
        <p:nvSpPr>
          <p:cNvPr id="3" name="Text 1"/>
          <p:cNvSpPr/>
          <p:nvPr/>
        </p:nvSpPr>
        <p:spPr>
          <a:xfrm>
            <a:off x="502920" y="265430"/>
            <a:ext cx="3291840" cy="320040"/>
          </a:xfrm>
          <a:prstGeom prst="rect">
            <a:avLst/>
          </a:prstGeom>
          <a:noFill/>
        </p:spPr>
        <p:txBody>
          <a:bodyPr wrap="square" rtlCol="0" anchor="ctr"/>
          <a:lstStyle/>
          <a:p>
            <a:pPr marL="0" indent="0">
              <a:buNone/>
            </a:pPr>
            <a:r>
              <a:rPr lang="en-US" sz="1200" b="1" kern="0" spc="100" dirty="0">
                <a:solidFill>
                  <a:srgbClr val="E3A93E"/>
                </a:solidFill>
                <a:latin typeface="Calibri" panose="020F0502020204030204" pitchFamily="34" charset="0"/>
                <a:ea typeface="Calibri" panose="020F0502020204030204" pitchFamily="34" charset="-122"/>
                <a:cs typeface="Calibri" panose="020F0502020204030204" pitchFamily="34" charset="-120"/>
              </a:rPr>
              <a:t>D E V E L O P E D   B Y</a:t>
            </a:r>
            <a:endParaRPr lang="en-US" sz="1200" dirty="0"/>
          </a:p>
        </p:txBody>
      </p:sp>
      <p:sp>
        <p:nvSpPr>
          <p:cNvPr id="6" name="Text 4"/>
          <p:cNvSpPr/>
          <p:nvPr/>
        </p:nvSpPr>
        <p:spPr>
          <a:xfrm>
            <a:off x="502920" y="2743200"/>
            <a:ext cx="3383280" cy="914400"/>
          </a:xfrm>
          <a:prstGeom prst="rect">
            <a:avLst/>
          </a:prstGeom>
          <a:noFill/>
        </p:spPr>
        <p:txBody>
          <a:bodyPr wrap="square" rtlCol="0" anchor="ctr"/>
          <a:lstStyle/>
          <a:p>
            <a:pPr marL="0" indent="0">
              <a:lnSpc>
                <a:spcPts val="2800"/>
              </a:lnSpc>
              <a:buNone/>
            </a:pPr>
            <a:r>
              <a:rPr lang="en-US" sz="2400" b="1" dirty="0">
                <a:solidFill>
                  <a:srgbClr val="FFFFFF"/>
                </a:solidFill>
                <a:latin typeface="Cambria" panose="02040503050406030204" pitchFamily="34" charset="0"/>
                <a:ea typeface="Cambria" panose="02040503050406030204" pitchFamily="34" charset="-122"/>
                <a:cs typeface="Cambria" panose="02040503050406030204" pitchFamily="34" charset="-120"/>
              </a:rPr>
              <a:t>Samuel</a:t>
            </a:r>
            <a:endParaRPr lang="en-US" sz="2400" dirty="0"/>
          </a:p>
          <a:p>
            <a:pPr marL="0" indent="0">
              <a:lnSpc>
                <a:spcPts val="2800"/>
              </a:lnSpc>
              <a:buNone/>
            </a:pPr>
            <a:r>
              <a:rPr lang="en-US" sz="2400" b="1" dirty="0">
                <a:solidFill>
                  <a:srgbClr val="FFFFFF"/>
                </a:solidFill>
                <a:latin typeface="Cambria" panose="02040503050406030204" pitchFamily="34" charset="0"/>
                <a:ea typeface="Cambria" panose="02040503050406030204" pitchFamily="34" charset="-122"/>
                <a:cs typeface="Cambria" panose="02040503050406030204" pitchFamily="34" charset="-120"/>
              </a:rPr>
              <a:t>Lyomoki Junior</a:t>
            </a:r>
            <a:endParaRPr lang="en-US" sz="2400" dirty="0"/>
          </a:p>
        </p:txBody>
      </p:sp>
      <p:sp>
        <p:nvSpPr>
          <p:cNvPr id="7" name="Shape 5"/>
          <p:cNvSpPr/>
          <p:nvPr/>
        </p:nvSpPr>
        <p:spPr>
          <a:xfrm>
            <a:off x="548640" y="3849624"/>
            <a:ext cx="91440" cy="91440"/>
          </a:xfrm>
          <a:prstGeom prst="ellipse">
            <a:avLst/>
          </a:prstGeom>
          <a:solidFill>
            <a:srgbClr val="AFC3D8"/>
          </a:solidFill>
        </p:spPr>
      </p:sp>
      <p:sp>
        <p:nvSpPr>
          <p:cNvPr id="8" name="Text 6"/>
          <p:cNvSpPr/>
          <p:nvPr/>
        </p:nvSpPr>
        <p:spPr>
          <a:xfrm>
            <a:off x="777240" y="3721608"/>
            <a:ext cx="3108960" cy="320040"/>
          </a:xfrm>
          <a:prstGeom prst="rect">
            <a:avLst/>
          </a:prstGeom>
          <a:noFill/>
        </p:spPr>
        <p:txBody>
          <a:bodyPr wrap="square" lIns="0" tIns="0" rIns="0" bIns="0" rtlCol="0" anchor="ctr"/>
          <a:lstStyle/>
          <a:p>
            <a:pPr marL="0" indent="0">
              <a:buNone/>
            </a:pPr>
            <a:r>
              <a:rPr lang="en-US" sz="1250" dirty="0">
                <a:solidFill>
                  <a:srgbClr val="D6E0EC"/>
                </a:solidFill>
                <a:latin typeface="Calibri" panose="020F0502020204030204" pitchFamily="34" charset="0"/>
                <a:ea typeface="Calibri" panose="020F0502020204030204" pitchFamily="34" charset="-122"/>
                <a:cs typeface="Calibri" panose="020F0502020204030204" pitchFamily="34" charset="-120"/>
              </a:rPr>
              <a:t>Global Leadership &amp; Governance</a:t>
            </a:r>
            <a:endParaRPr lang="en-US" sz="1250" dirty="0"/>
          </a:p>
        </p:txBody>
      </p:sp>
      <p:sp>
        <p:nvSpPr>
          <p:cNvPr id="9" name="Shape 7"/>
          <p:cNvSpPr/>
          <p:nvPr/>
        </p:nvSpPr>
        <p:spPr>
          <a:xfrm>
            <a:off x="548640" y="4306824"/>
            <a:ext cx="91440" cy="91440"/>
          </a:xfrm>
          <a:prstGeom prst="ellipse">
            <a:avLst/>
          </a:prstGeom>
          <a:solidFill>
            <a:srgbClr val="AFC3D8"/>
          </a:solidFill>
        </p:spPr>
      </p:sp>
      <p:sp>
        <p:nvSpPr>
          <p:cNvPr id="10" name="Text 8"/>
          <p:cNvSpPr/>
          <p:nvPr/>
        </p:nvSpPr>
        <p:spPr>
          <a:xfrm>
            <a:off x="777240" y="4178808"/>
            <a:ext cx="3108960" cy="320040"/>
          </a:xfrm>
          <a:prstGeom prst="rect">
            <a:avLst/>
          </a:prstGeom>
          <a:noFill/>
        </p:spPr>
        <p:txBody>
          <a:bodyPr wrap="square" lIns="0" tIns="0" rIns="0" bIns="0" rtlCol="0" anchor="ctr"/>
          <a:lstStyle/>
          <a:p>
            <a:pPr marL="0" indent="0">
              <a:buNone/>
            </a:pPr>
            <a:r>
              <a:rPr lang="en-US" sz="1250" dirty="0">
                <a:solidFill>
                  <a:srgbClr val="D6E0EC"/>
                </a:solidFill>
                <a:latin typeface="Calibri" panose="020F0502020204030204" pitchFamily="34" charset="0"/>
                <a:ea typeface="Calibri" panose="020F0502020204030204" pitchFamily="34" charset="-122"/>
                <a:cs typeface="Calibri" panose="020F0502020204030204" pitchFamily="34" charset="-120"/>
              </a:rPr>
              <a:t>USIU-Africa</a:t>
            </a:r>
            <a:endParaRPr lang="en-US" sz="1250" dirty="0"/>
          </a:p>
        </p:txBody>
      </p:sp>
      <p:sp>
        <p:nvSpPr>
          <p:cNvPr id="11" name="Shape 9"/>
          <p:cNvSpPr/>
          <p:nvPr/>
        </p:nvSpPr>
        <p:spPr>
          <a:xfrm>
            <a:off x="548640" y="4764024"/>
            <a:ext cx="91440" cy="91440"/>
          </a:xfrm>
          <a:prstGeom prst="ellipse">
            <a:avLst/>
          </a:prstGeom>
          <a:solidFill>
            <a:srgbClr val="AFC3D8"/>
          </a:solidFill>
        </p:spPr>
      </p:sp>
      <p:sp>
        <p:nvSpPr>
          <p:cNvPr id="12" name="Text 10"/>
          <p:cNvSpPr/>
          <p:nvPr/>
        </p:nvSpPr>
        <p:spPr>
          <a:xfrm>
            <a:off x="777240" y="4636008"/>
            <a:ext cx="3108960" cy="320040"/>
          </a:xfrm>
          <a:prstGeom prst="rect">
            <a:avLst/>
          </a:prstGeom>
          <a:noFill/>
        </p:spPr>
        <p:txBody>
          <a:bodyPr wrap="square" lIns="0" tIns="0" rIns="0" bIns="0" rtlCol="0" anchor="ctr"/>
          <a:lstStyle/>
          <a:p>
            <a:pPr marL="0" indent="0">
              <a:buNone/>
            </a:pPr>
            <a:r>
              <a:rPr lang="en-US" sz="1250" dirty="0">
                <a:solidFill>
                  <a:srgbClr val="D6E0EC"/>
                </a:solidFill>
                <a:latin typeface="Calibri" panose="020F0502020204030204" pitchFamily="34" charset="0"/>
                <a:ea typeface="Calibri" panose="020F0502020204030204" pitchFamily="34" charset="-122"/>
                <a:cs typeface="Calibri" panose="020F0502020204030204" pitchFamily="34" charset="-120"/>
              </a:rPr>
              <a:t>Intern — Enterprise &amp; Growth Dept.</a:t>
            </a:r>
            <a:endParaRPr lang="en-US" sz="1250" dirty="0"/>
          </a:p>
        </p:txBody>
      </p:sp>
      <p:sp>
        <p:nvSpPr>
          <p:cNvPr id="13" name="Shape 11"/>
          <p:cNvSpPr/>
          <p:nvPr/>
        </p:nvSpPr>
        <p:spPr>
          <a:xfrm>
            <a:off x="548640" y="5221224"/>
            <a:ext cx="91440" cy="91440"/>
          </a:xfrm>
          <a:prstGeom prst="ellipse">
            <a:avLst/>
          </a:prstGeom>
          <a:solidFill>
            <a:srgbClr val="AFC3D8"/>
          </a:solidFill>
        </p:spPr>
      </p:sp>
      <p:sp>
        <p:nvSpPr>
          <p:cNvPr id="14" name="Text 12"/>
          <p:cNvSpPr/>
          <p:nvPr/>
        </p:nvSpPr>
        <p:spPr>
          <a:xfrm>
            <a:off x="777240" y="5093208"/>
            <a:ext cx="3108960" cy="320040"/>
          </a:xfrm>
          <a:prstGeom prst="rect">
            <a:avLst/>
          </a:prstGeom>
          <a:noFill/>
        </p:spPr>
        <p:txBody>
          <a:bodyPr wrap="square" lIns="0" tIns="0" rIns="0" bIns="0" rtlCol="0" anchor="ctr"/>
          <a:lstStyle/>
          <a:p>
            <a:pPr marL="0" indent="0">
              <a:buNone/>
            </a:pPr>
            <a:r>
              <a:rPr lang="en-US" sz="1250" dirty="0">
                <a:solidFill>
                  <a:srgbClr val="D6E0EC"/>
                </a:solidFill>
                <a:latin typeface="Calibri" panose="020F0502020204030204" pitchFamily="34" charset="0"/>
                <a:ea typeface="Calibri" panose="020F0502020204030204" pitchFamily="34" charset="-122"/>
                <a:cs typeface="Calibri" panose="020F0502020204030204" pitchFamily="34" charset="-120"/>
              </a:rPr>
              <a:t>Summer Internship 2026</a:t>
            </a:r>
            <a:endParaRPr lang="en-US" sz="1250" dirty="0"/>
          </a:p>
        </p:txBody>
      </p:sp>
      <p:sp>
        <p:nvSpPr>
          <p:cNvPr id="15" name="Text 13"/>
          <p:cNvSpPr/>
          <p:nvPr/>
        </p:nvSpPr>
        <p:spPr>
          <a:xfrm>
            <a:off x="4572000" y="331470"/>
            <a:ext cx="6400800" cy="457200"/>
          </a:xfrm>
          <a:prstGeom prst="rect">
            <a:avLst/>
          </a:prstGeom>
          <a:noFill/>
        </p:spPr>
        <p:txBody>
          <a:bodyPr wrap="square" rtlCol="0" anchor="ctr"/>
          <a:lstStyle/>
          <a:p>
            <a:pPr marL="0" indent="0">
              <a:buNone/>
            </a:pPr>
            <a:r>
              <a:rPr lang="en-US" sz="2600" b="1" dirty="0">
                <a:solidFill>
                  <a:srgbClr val="0E3A63"/>
                </a:solidFill>
                <a:latin typeface="Cambria" panose="02040503050406030204" pitchFamily="34" charset="0"/>
                <a:ea typeface="Cambria" panose="02040503050406030204" pitchFamily="34" charset="-122"/>
                <a:cs typeface="Cambria" panose="02040503050406030204" pitchFamily="34" charset="-120"/>
              </a:rPr>
              <a:t>The Tool</a:t>
            </a:r>
            <a:endParaRPr lang="en-US" sz="2600" dirty="0"/>
          </a:p>
        </p:txBody>
      </p:sp>
      <p:sp>
        <p:nvSpPr>
          <p:cNvPr id="16" name="Text 14"/>
          <p:cNvSpPr/>
          <p:nvPr/>
        </p:nvSpPr>
        <p:spPr>
          <a:xfrm>
            <a:off x="4572000" y="834390"/>
            <a:ext cx="6400800" cy="320040"/>
          </a:xfrm>
          <a:prstGeom prst="rect">
            <a:avLst/>
          </a:prstGeom>
          <a:noFill/>
        </p:spPr>
        <p:txBody>
          <a:bodyPr wrap="square" rtlCol="0" anchor="ctr"/>
          <a:lstStyle/>
          <a:p>
            <a:pPr marL="0" indent="0">
              <a:buNone/>
            </a:pPr>
            <a:r>
              <a:rPr lang="en-US" altLang="en-US" sz="1500" i="1" dirty="0">
                <a:solidFill>
                  <a:srgbClr val="5B6472"/>
                </a:solidFill>
                <a:latin typeface="Calibri" panose="020F0502020204030204" pitchFamily="34" charset="0"/>
                <a:ea typeface="Calibri" panose="020F0502020204030204" pitchFamily="34" charset="-122"/>
                <a:cs typeface="Calibri" panose="020F0502020204030204" pitchFamily="34" charset="-120"/>
              </a:rPr>
              <a:t>Digital Pre-Registration Member Data Capture Tool</a:t>
            </a:r>
            <a:endParaRPr lang="en-US" altLang="en-US" sz="1500" i="1" dirty="0">
              <a:solidFill>
                <a:srgbClr val="5B6472"/>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4617720" y="1981327"/>
            <a:ext cx="128016" cy="128016"/>
          </a:xfrm>
          <a:prstGeom prst="ellipse">
            <a:avLst/>
          </a:prstGeom>
          <a:solidFill>
            <a:srgbClr val="E3A93E"/>
          </a:solidFill>
        </p:spPr>
      </p:sp>
      <p:sp>
        <p:nvSpPr>
          <p:cNvPr id="18" name="Text 16"/>
          <p:cNvSpPr/>
          <p:nvPr/>
        </p:nvSpPr>
        <p:spPr>
          <a:xfrm>
            <a:off x="4892040" y="1862455"/>
            <a:ext cx="6217920" cy="411480"/>
          </a:xfrm>
          <a:prstGeom prst="rect">
            <a:avLst/>
          </a:prstGeom>
          <a:noFill/>
        </p:spPr>
        <p:txBody>
          <a:bodyPr wrap="square" lIns="0" tIns="0" rIns="0" bIns="0" rtlCol="0" anchor="ctr"/>
          <a:lstStyle/>
          <a:p>
            <a:pPr marL="0" indent="0">
              <a:buNone/>
            </a:pPr>
            <a:r>
              <a:rPr lang="en-US" sz="1500" dirty="0">
                <a:solidFill>
                  <a:srgbClr val="1B2A41"/>
                </a:solidFill>
                <a:latin typeface="Calibri" panose="020F0502020204030204" pitchFamily="34" charset="0"/>
                <a:ea typeface="Calibri" panose="020F0502020204030204" pitchFamily="34" charset="-122"/>
                <a:cs typeface="Calibri" panose="020F0502020204030204" pitchFamily="34" charset="-120"/>
              </a:rPr>
              <a:t>Allows Manual Registration Data Entry  </a:t>
            </a:r>
            <a:endParaRPr lang="en-US" sz="1500" dirty="0"/>
          </a:p>
        </p:txBody>
      </p:sp>
      <p:sp>
        <p:nvSpPr>
          <p:cNvPr id="19" name="Shape 17"/>
          <p:cNvSpPr/>
          <p:nvPr/>
        </p:nvSpPr>
        <p:spPr>
          <a:xfrm>
            <a:off x="4617720" y="2603119"/>
            <a:ext cx="128016" cy="128016"/>
          </a:xfrm>
          <a:prstGeom prst="ellipse">
            <a:avLst/>
          </a:prstGeom>
          <a:solidFill>
            <a:srgbClr val="E3A93E"/>
          </a:solidFill>
        </p:spPr>
      </p:sp>
      <p:sp>
        <p:nvSpPr>
          <p:cNvPr id="20" name="Text 18"/>
          <p:cNvSpPr/>
          <p:nvPr/>
        </p:nvSpPr>
        <p:spPr>
          <a:xfrm>
            <a:off x="4892040" y="2484247"/>
            <a:ext cx="6217920" cy="411480"/>
          </a:xfrm>
          <a:prstGeom prst="rect">
            <a:avLst/>
          </a:prstGeom>
          <a:noFill/>
        </p:spPr>
        <p:txBody>
          <a:bodyPr wrap="square" lIns="0" tIns="0" rIns="0" bIns="0" rtlCol="0" anchor="ctr"/>
          <a:lstStyle/>
          <a:p>
            <a:pPr marL="0" indent="0">
              <a:buNone/>
            </a:pPr>
            <a:r>
              <a:rPr lang="en-US" sz="1500" dirty="0">
                <a:solidFill>
                  <a:srgbClr val="1B2A41"/>
                </a:solidFill>
                <a:latin typeface="Calibri" panose="020F0502020204030204" pitchFamily="34" charset="0"/>
                <a:ea typeface="Calibri" panose="020F0502020204030204" pitchFamily="34" charset="-122"/>
                <a:cs typeface="Calibri" panose="020F0502020204030204" pitchFamily="34" charset="-120"/>
              </a:rPr>
              <a:t>NIN, Name, Sex, DOB, Nationality, Phone number &amp; location</a:t>
            </a:r>
            <a:endParaRPr lang="en-US" sz="1500" dirty="0"/>
          </a:p>
        </p:txBody>
      </p:sp>
      <p:sp>
        <p:nvSpPr>
          <p:cNvPr id="21" name="Shape 19"/>
          <p:cNvSpPr/>
          <p:nvPr/>
        </p:nvSpPr>
        <p:spPr>
          <a:xfrm>
            <a:off x="4617720" y="3224911"/>
            <a:ext cx="128016" cy="128016"/>
          </a:xfrm>
          <a:prstGeom prst="ellipse">
            <a:avLst/>
          </a:prstGeom>
          <a:solidFill>
            <a:srgbClr val="E3A93E"/>
          </a:solidFill>
        </p:spPr>
      </p:sp>
      <p:sp>
        <p:nvSpPr>
          <p:cNvPr id="22" name="Text 20"/>
          <p:cNvSpPr/>
          <p:nvPr/>
        </p:nvSpPr>
        <p:spPr>
          <a:xfrm>
            <a:off x="4892040" y="3106039"/>
            <a:ext cx="6217920" cy="411480"/>
          </a:xfrm>
          <a:prstGeom prst="rect">
            <a:avLst/>
          </a:prstGeom>
          <a:noFill/>
        </p:spPr>
        <p:txBody>
          <a:bodyPr wrap="square" lIns="0" tIns="0" rIns="0" bIns="0" rtlCol="0" anchor="ctr"/>
          <a:lstStyle/>
          <a:p>
            <a:pPr marL="0" indent="0">
              <a:buNone/>
            </a:pPr>
            <a:r>
              <a:rPr lang="en-US" sz="1500" dirty="0">
                <a:solidFill>
                  <a:srgbClr val="1B2A41"/>
                </a:solidFill>
                <a:latin typeface="Calibri" panose="020F0502020204030204" pitchFamily="34" charset="0"/>
                <a:ea typeface="Calibri" panose="020F0502020204030204" pitchFamily="34" charset="-122"/>
                <a:cs typeface="Calibri" panose="020F0502020204030204" pitchFamily="34" charset="-120"/>
              </a:rPr>
              <a:t>Auto-fills a verification form</a:t>
            </a:r>
            <a:endParaRPr lang="en-US" sz="1500" dirty="0"/>
          </a:p>
        </p:txBody>
      </p:sp>
      <p:sp>
        <p:nvSpPr>
          <p:cNvPr id="23" name="Shape 21"/>
          <p:cNvSpPr/>
          <p:nvPr/>
        </p:nvSpPr>
        <p:spPr>
          <a:xfrm>
            <a:off x="4617720" y="3846703"/>
            <a:ext cx="128016" cy="128016"/>
          </a:xfrm>
          <a:prstGeom prst="ellipse">
            <a:avLst/>
          </a:prstGeom>
          <a:solidFill>
            <a:srgbClr val="E3A93E"/>
          </a:solidFill>
        </p:spPr>
      </p:sp>
      <p:sp>
        <p:nvSpPr>
          <p:cNvPr id="24" name="Text 22"/>
          <p:cNvSpPr/>
          <p:nvPr/>
        </p:nvSpPr>
        <p:spPr>
          <a:xfrm>
            <a:off x="4892040" y="3727831"/>
            <a:ext cx="6217920" cy="411480"/>
          </a:xfrm>
          <a:prstGeom prst="rect">
            <a:avLst/>
          </a:prstGeom>
          <a:noFill/>
        </p:spPr>
        <p:txBody>
          <a:bodyPr wrap="square" lIns="0" tIns="0" rIns="0" bIns="0" rtlCol="0" anchor="ctr"/>
          <a:lstStyle/>
          <a:p>
            <a:pPr marL="0" indent="0">
              <a:buNone/>
            </a:pPr>
            <a:r>
              <a:rPr lang="en-US" sz="1500" dirty="0">
                <a:solidFill>
                  <a:srgbClr val="1B2A41"/>
                </a:solidFill>
                <a:latin typeface="Calibri" panose="020F0502020204030204" pitchFamily="34" charset="0"/>
                <a:ea typeface="Calibri" panose="020F0502020204030204" pitchFamily="34" charset="-122"/>
                <a:cs typeface="Calibri" panose="020F0502020204030204" pitchFamily="34" charset="-120"/>
              </a:rPr>
              <a:t>Exports records as .xlsx Excel</a:t>
            </a:r>
            <a:endParaRPr lang="en-US" sz="1500" dirty="0"/>
          </a:p>
        </p:txBody>
      </p:sp>
      <p:sp>
        <p:nvSpPr>
          <p:cNvPr id="25" name="Shape 23"/>
          <p:cNvSpPr/>
          <p:nvPr/>
        </p:nvSpPr>
        <p:spPr>
          <a:xfrm>
            <a:off x="4617720" y="4468495"/>
            <a:ext cx="128016" cy="128016"/>
          </a:xfrm>
          <a:prstGeom prst="ellipse">
            <a:avLst/>
          </a:prstGeom>
          <a:solidFill>
            <a:srgbClr val="E3A93E"/>
          </a:solidFill>
        </p:spPr>
      </p:sp>
      <p:sp>
        <p:nvSpPr>
          <p:cNvPr id="26" name="Text 24"/>
          <p:cNvSpPr/>
          <p:nvPr/>
        </p:nvSpPr>
        <p:spPr>
          <a:xfrm>
            <a:off x="4892040" y="4349623"/>
            <a:ext cx="6217920" cy="411480"/>
          </a:xfrm>
          <a:prstGeom prst="rect">
            <a:avLst/>
          </a:prstGeom>
          <a:noFill/>
        </p:spPr>
        <p:txBody>
          <a:bodyPr wrap="square" lIns="0" tIns="0" rIns="0" bIns="0" rtlCol="0" anchor="ctr"/>
          <a:lstStyle/>
          <a:p>
            <a:pPr marL="0" indent="0">
              <a:buNone/>
            </a:pPr>
            <a:r>
              <a:rPr lang="en-US" sz="1500" dirty="0">
                <a:solidFill>
                  <a:srgbClr val="1B2A41"/>
                </a:solidFill>
                <a:latin typeface="Calibri" panose="020F0502020204030204" pitchFamily="34" charset="0"/>
                <a:ea typeface="Calibri" panose="020F0502020204030204" pitchFamily="34" charset="-122"/>
                <a:cs typeface="Calibri" panose="020F0502020204030204" pitchFamily="34" charset="-120"/>
              </a:rPr>
              <a:t>100% offline — no internet needed</a:t>
            </a:r>
            <a:endParaRPr lang="en-US" sz="1500" dirty="0"/>
          </a:p>
        </p:txBody>
      </p:sp>
      <p:sp>
        <p:nvSpPr>
          <p:cNvPr id="27" name="Shape 25"/>
          <p:cNvSpPr/>
          <p:nvPr/>
        </p:nvSpPr>
        <p:spPr>
          <a:xfrm>
            <a:off x="4572000" y="4892040"/>
            <a:ext cx="6949440" cy="1417320"/>
          </a:xfrm>
          <a:prstGeom prst="roundRect">
            <a:avLst>
              <a:gd name="adj" fmla="val 5161"/>
            </a:avLst>
          </a:prstGeom>
          <a:solidFill>
            <a:srgbClr val="F1F5F9"/>
          </a:solidFill>
          <a:effectLst>
            <a:outerShdw blurRad="101600" dist="38100" dir="5400000" algn="bl" rotWithShape="0">
              <a:srgbClr val="1B2A41">
                <a:alpha val="15000"/>
              </a:srgbClr>
            </a:outerShdw>
          </a:effectLst>
        </p:spPr>
      </p:sp>
      <p:sp>
        <p:nvSpPr>
          <p:cNvPr id="28" name="Text 26"/>
          <p:cNvSpPr/>
          <p:nvPr/>
        </p:nvSpPr>
        <p:spPr>
          <a:xfrm>
            <a:off x="4572000" y="4892040"/>
            <a:ext cx="6949440" cy="1417320"/>
          </a:xfrm>
          <a:prstGeom prst="rect">
            <a:avLst/>
          </a:prstGeom>
          <a:noFill/>
        </p:spPr>
        <p:txBody>
          <a:bodyPr wrap="square" lIns="0" tIns="0" rIns="0" bIns="0" rtlCol="0" anchor="ctr"/>
          <a:lstStyle/>
          <a:p>
            <a:pPr marL="0" indent="0" algn="ctr">
              <a:buNone/>
            </a:pPr>
            <a:r>
              <a:rPr lang="en-US" sz="2000" b="1" i="1" dirty="0">
                <a:solidFill>
                  <a:srgbClr val="0E3A63"/>
                </a:solidFill>
                <a:latin typeface="Cambria" panose="02040503050406030204" pitchFamily="34" charset="0"/>
                <a:ea typeface="Cambria" panose="02040503050406030204" pitchFamily="34" charset="-122"/>
                <a:cs typeface="Cambria" panose="02040503050406030204" pitchFamily="34" charset="-120"/>
              </a:rPr>
              <a:t>NSSF A Better Life</a:t>
            </a:r>
            <a:endParaRPr lang="en-US" sz="2000" dirty="0"/>
          </a:p>
        </p:txBody>
      </p:sp>
      <p:pic>
        <p:nvPicPr>
          <p:cNvPr id="33" name="Picture 32"/>
          <p:cNvPicPr>
            <a:picLocks noChangeAspect="1"/>
          </p:cNvPicPr>
          <p:nvPr/>
        </p:nvPicPr>
        <p:blipFill>
          <a:blip r:embed="rId1"/>
          <a:stretch>
            <a:fillRect/>
          </a:stretch>
        </p:blipFill>
        <p:spPr>
          <a:xfrm>
            <a:off x="640080" y="628650"/>
            <a:ext cx="2169160" cy="2169160"/>
          </a:xfrm>
          <a:prstGeom prst="rect">
            <a:avLst/>
          </a:prstGeom>
        </p:spPr>
      </p:pic>
      <p:sp>
        <p:nvSpPr>
          <p:cNvPr id="29" name="Shape 15"/>
          <p:cNvSpPr/>
          <p:nvPr/>
        </p:nvSpPr>
        <p:spPr>
          <a:xfrm>
            <a:off x="4617720" y="1484757"/>
            <a:ext cx="128016" cy="128016"/>
          </a:xfrm>
          <a:prstGeom prst="ellipse">
            <a:avLst/>
          </a:prstGeom>
          <a:solidFill>
            <a:srgbClr val="E3A93E"/>
          </a:solidFill>
        </p:spPr>
      </p:sp>
      <p:sp>
        <p:nvSpPr>
          <p:cNvPr id="30" name="Text 16"/>
          <p:cNvSpPr/>
          <p:nvPr/>
        </p:nvSpPr>
        <p:spPr>
          <a:xfrm>
            <a:off x="4892040" y="1365885"/>
            <a:ext cx="6217920" cy="411480"/>
          </a:xfrm>
          <a:prstGeom prst="rect">
            <a:avLst/>
          </a:prstGeom>
          <a:noFill/>
        </p:spPr>
        <p:txBody>
          <a:bodyPr wrap="square" lIns="0" tIns="0" rIns="0" bIns="0" rtlCol="0" anchor="ctr"/>
          <a:lstStyle/>
          <a:p>
            <a:pPr marL="0" indent="0">
              <a:buNone/>
            </a:pPr>
            <a:r>
              <a:rPr lang="en-US" sz="1500" dirty="0">
                <a:solidFill>
                  <a:srgbClr val="1B2A41"/>
                </a:solidFill>
                <a:latin typeface="Calibri" panose="020F0502020204030204" pitchFamily="34" charset="0"/>
                <a:ea typeface="Calibri" panose="020F0502020204030204" pitchFamily="34" charset="-122"/>
                <a:cs typeface="Calibri" panose="020F0502020204030204" pitchFamily="34" charset="-120"/>
              </a:rPr>
              <a:t>Captures Registration Data Using ID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6199</Words>
  <Application>WPS Presentation</Application>
  <PresentationFormat>On-screen Show (16:9)</PresentationFormat>
  <Paragraphs>342</Paragraphs>
  <Slides>21</Slides>
  <Notes>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Samue Junior</cp:lastModifiedBy>
  <cp:revision>18</cp:revision>
  <dcterms:created xsi:type="dcterms:W3CDTF">2026-07-10T07:45:00Z</dcterms:created>
  <dcterms:modified xsi:type="dcterms:W3CDTF">2026-07-26T12:52:41Z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5A4BA72677F34BBCBF85D597C4592EBC_12</vt:lpwstr>
  </property>
  <property fmtid="{D5CDD505-2E9C-101B-9397-08002B2CF9AE}" pid="3" name="KSOProductBuildVer">
    <vt:lpwstr>1033-12.1.0.27458</vt:lpwstr>
  </property>
</Properties>
</file>